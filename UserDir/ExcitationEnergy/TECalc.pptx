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61" r:id="rId4"/>
    <p:sldId id="394" r:id="rId5"/>
    <p:sldId id="396" r:id="rId6"/>
    <p:sldId id="258" r:id="rId7"/>
    <p:sldId id="397" r:id="rId8"/>
    <p:sldId id="398" r:id="rId9"/>
    <p:sldId id="260" r:id="rId10"/>
    <p:sldId id="392" r:id="rId11"/>
    <p:sldId id="393" r:id="rId12"/>
    <p:sldId id="395"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530"/>
    <p:restoredTop sz="94658"/>
  </p:normalViewPr>
  <p:slideViewPr>
    <p:cSldViewPr snapToGrid="0">
      <p:cViewPr varScale="1">
        <p:scale>
          <a:sx n="93" d="100"/>
          <a:sy n="93" d="100"/>
        </p:scale>
        <p:origin x="248" y="7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E1EEDA-8DFC-B84B-A130-BB3C2BCB2A8D}" type="datetimeFigureOut">
              <a:rPr lang="en-US" smtClean="0"/>
              <a:t>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8FDF152-CD3B-754F-BB4D-FB13124A0623}" type="slidenum">
              <a:rPr lang="en-US" smtClean="0"/>
              <a:t>‹#›</a:t>
            </a:fld>
            <a:endParaRPr lang="en-US"/>
          </a:p>
        </p:txBody>
      </p:sp>
    </p:spTree>
    <p:extLst>
      <p:ext uri="{BB962C8B-B14F-4D97-AF65-F5344CB8AC3E}">
        <p14:creationId xmlns:p14="http://schemas.microsoft.com/office/powerpoint/2010/main" val="6435907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8FDF152-CD3B-754F-BB4D-FB13124A0623}" type="slidenum">
              <a:rPr lang="en-US" smtClean="0"/>
              <a:t>9</a:t>
            </a:fld>
            <a:endParaRPr lang="en-US"/>
          </a:p>
        </p:txBody>
      </p:sp>
    </p:spTree>
    <p:extLst>
      <p:ext uri="{BB962C8B-B14F-4D97-AF65-F5344CB8AC3E}">
        <p14:creationId xmlns:p14="http://schemas.microsoft.com/office/powerpoint/2010/main" val="32713444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3B3793-55D6-8648-CB88-67420DBC32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5CD49E-F981-1E64-4133-4EDF9C88AF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75BAE1-E8E2-FAE5-B652-CAC7CF53E93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8794A6A-02DB-8ADF-D041-1BE2F3DD1CEE}"/>
              </a:ext>
            </a:extLst>
          </p:cNvPr>
          <p:cNvSpPr>
            <a:spLocks noGrp="1"/>
          </p:cNvSpPr>
          <p:nvPr>
            <p:ph type="sldNum" sz="quarter" idx="5"/>
          </p:nvPr>
        </p:nvSpPr>
        <p:spPr/>
        <p:txBody>
          <a:bodyPr/>
          <a:lstStyle/>
          <a:p>
            <a:fld id="{1AFA6A82-C43D-0E45-8BBC-3BA89641B414}" type="slidenum">
              <a:rPr lang="en-US" smtClean="0"/>
              <a:t>10</a:t>
            </a:fld>
            <a:endParaRPr lang="en-US" dirty="0"/>
          </a:p>
        </p:txBody>
      </p:sp>
    </p:spTree>
    <p:extLst>
      <p:ext uri="{BB962C8B-B14F-4D97-AF65-F5344CB8AC3E}">
        <p14:creationId xmlns:p14="http://schemas.microsoft.com/office/powerpoint/2010/main" val="2873140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3BB96-EB6D-687E-4C40-1C54F10026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BD5D2C-B09D-C480-843C-A4176DD860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CA9A84-349D-F361-93A0-269DEF8FD39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345A98A-DDFB-93E1-69B9-8079108B0A42}"/>
              </a:ext>
            </a:extLst>
          </p:cNvPr>
          <p:cNvSpPr>
            <a:spLocks noGrp="1"/>
          </p:cNvSpPr>
          <p:nvPr>
            <p:ph type="sldNum" sz="quarter" idx="5"/>
          </p:nvPr>
        </p:nvSpPr>
        <p:spPr/>
        <p:txBody>
          <a:bodyPr/>
          <a:lstStyle/>
          <a:p>
            <a:fld id="{1AFA6A82-C43D-0E45-8BBC-3BA89641B414}" type="slidenum">
              <a:rPr lang="en-US" smtClean="0"/>
              <a:t>11</a:t>
            </a:fld>
            <a:endParaRPr lang="en-US" dirty="0"/>
          </a:p>
        </p:txBody>
      </p:sp>
    </p:spTree>
    <p:extLst>
      <p:ext uri="{BB962C8B-B14F-4D97-AF65-F5344CB8AC3E}">
        <p14:creationId xmlns:p14="http://schemas.microsoft.com/office/powerpoint/2010/main" val="19307785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F638E-B6DF-673E-B3A6-D135A81CC02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F3AF3F9-2AD0-DC6E-836B-80C1994D1B1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FB32C61-7CCE-476D-1079-2D676FA3D5C8}"/>
              </a:ext>
            </a:extLst>
          </p:cNvPr>
          <p:cNvSpPr>
            <a:spLocks noGrp="1"/>
          </p:cNvSpPr>
          <p:nvPr>
            <p:ph type="dt" sz="half" idx="10"/>
          </p:nvPr>
        </p:nvSpPr>
        <p:spPr/>
        <p:txBody>
          <a:bodyPr/>
          <a:lstStyle/>
          <a:p>
            <a:fld id="{F364AA3D-7631-1042-9D20-0F670A01984D}" type="datetimeFigureOut">
              <a:rPr lang="en-US" smtClean="0"/>
              <a:t>2/20/26</a:t>
            </a:fld>
            <a:endParaRPr lang="en-US"/>
          </a:p>
        </p:txBody>
      </p:sp>
      <p:sp>
        <p:nvSpPr>
          <p:cNvPr id="5" name="Footer Placeholder 4">
            <a:extLst>
              <a:ext uri="{FF2B5EF4-FFF2-40B4-BE49-F238E27FC236}">
                <a16:creationId xmlns:a16="http://schemas.microsoft.com/office/drawing/2014/main" id="{4314B0AF-3C10-CF0E-13A7-F4A7BFD95C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CC6193-6B35-EF3B-74AF-E4DB09EACC82}"/>
              </a:ext>
            </a:extLst>
          </p:cNvPr>
          <p:cNvSpPr>
            <a:spLocks noGrp="1"/>
          </p:cNvSpPr>
          <p:nvPr>
            <p:ph type="sldNum" sz="quarter" idx="12"/>
          </p:nvPr>
        </p:nvSpPr>
        <p:spPr/>
        <p:txBody>
          <a:bodyPr/>
          <a:lstStyle/>
          <a:p>
            <a:fld id="{4107ED18-A071-784D-90D3-5133768A6BA1}" type="slidenum">
              <a:rPr lang="en-US" smtClean="0"/>
              <a:t>‹#›</a:t>
            </a:fld>
            <a:endParaRPr lang="en-US"/>
          </a:p>
        </p:txBody>
      </p:sp>
    </p:spTree>
    <p:extLst>
      <p:ext uri="{BB962C8B-B14F-4D97-AF65-F5344CB8AC3E}">
        <p14:creationId xmlns:p14="http://schemas.microsoft.com/office/powerpoint/2010/main" val="18892773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5504B68-9C88-0C6A-30D9-5A1E5E748C5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F0DB8C-7C17-50A2-A432-1749844EC4A7}"/>
              </a:ext>
            </a:extLst>
          </p:cNvPr>
          <p:cNvSpPr>
            <a:spLocks noGrp="1"/>
          </p:cNvSpPr>
          <p:nvPr>
            <p:ph type="dt" sz="half" idx="10"/>
          </p:nvPr>
        </p:nvSpPr>
        <p:spPr/>
        <p:txBody>
          <a:bodyPr/>
          <a:lstStyle/>
          <a:p>
            <a:fld id="{F364AA3D-7631-1042-9D20-0F670A01984D}" type="datetimeFigureOut">
              <a:rPr lang="en-US" smtClean="0"/>
              <a:t>2/20/26</a:t>
            </a:fld>
            <a:endParaRPr lang="en-US"/>
          </a:p>
        </p:txBody>
      </p:sp>
      <p:sp>
        <p:nvSpPr>
          <p:cNvPr id="5" name="Footer Placeholder 4">
            <a:extLst>
              <a:ext uri="{FF2B5EF4-FFF2-40B4-BE49-F238E27FC236}">
                <a16:creationId xmlns:a16="http://schemas.microsoft.com/office/drawing/2014/main" id="{67F16C4E-D9A3-FAA1-8901-0E60D79575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D398D1-05FA-CB50-A721-98999857CDF7}"/>
              </a:ext>
            </a:extLst>
          </p:cNvPr>
          <p:cNvSpPr>
            <a:spLocks noGrp="1"/>
          </p:cNvSpPr>
          <p:nvPr>
            <p:ph type="sldNum" sz="quarter" idx="12"/>
          </p:nvPr>
        </p:nvSpPr>
        <p:spPr/>
        <p:txBody>
          <a:bodyPr/>
          <a:lstStyle/>
          <a:p>
            <a:fld id="{4107ED18-A071-784D-90D3-5133768A6BA1}" type="slidenum">
              <a:rPr lang="en-US" smtClean="0"/>
              <a:t>‹#›</a:t>
            </a:fld>
            <a:endParaRPr lang="en-US"/>
          </a:p>
        </p:txBody>
      </p:sp>
      <p:sp>
        <p:nvSpPr>
          <p:cNvPr id="7" name="Title 6">
            <a:extLst>
              <a:ext uri="{FF2B5EF4-FFF2-40B4-BE49-F238E27FC236}">
                <a16:creationId xmlns:a16="http://schemas.microsoft.com/office/drawing/2014/main" id="{BF87E5B2-381F-A473-C3DF-66392C2AFD97}"/>
              </a:ext>
            </a:extLst>
          </p:cNvPr>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23305581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0509C3-A7AF-D8DA-9E55-51FAD6BB806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87ACC8F-EDE0-18C2-32A8-5F5E981E39A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4E70C0A-E73A-1E60-B02E-FD628A1D9781}"/>
              </a:ext>
            </a:extLst>
          </p:cNvPr>
          <p:cNvSpPr>
            <a:spLocks noGrp="1"/>
          </p:cNvSpPr>
          <p:nvPr>
            <p:ph type="dt" sz="half" idx="10"/>
          </p:nvPr>
        </p:nvSpPr>
        <p:spPr/>
        <p:txBody>
          <a:bodyPr/>
          <a:lstStyle/>
          <a:p>
            <a:fld id="{F364AA3D-7631-1042-9D20-0F670A01984D}" type="datetimeFigureOut">
              <a:rPr lang="en-US" smtClean="0"/>
              <a:t>2/20/26</a:t>
            </a:fld>
            <a:endParaRPr lang="en-US"/>
          </a:p>
        </p:txBody>
      </p:sp>
      <p:sp>
        <p:nvSpPr>
          <p:cNvPr id="5" name="Footer Placeholder 4">
            <a:extLst>
              <a:ext uri="{FF2B5EF4-FFF2-40B4-BE49-F238E27FC236}">
                <a16:creationId xmlns:a16="http://schemas.microsoft.com/office/drawing/2014/main" id="{CA09C56B-63B2-EC25-597B-22271EC666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387447-68D4-9023-8A14-B01AD6EC73F8}"/>
              </a:ext>
            </a:extLst>
          </p:cNvPr>
          <p:cNvSpPr>
            <a:spLocks noGrp="1"/>
          </p:cNvSpPr>
          <p:nvPr>
            <p:ph type="sldNum" sz="quarter" idx="12"/>
          </p:nvPr>
        </p:nvSpPr>
        <p:spPr/>
        <p:txBody>
          <a:bodyPr/>
          <a:lstStyle/>
          <a:p>
            <a:fld id="{4107ED18-A071-784D-90D3-5133768A6BA1}" type="slidenum">
              <a:rPr lang="en-US" smtClean="0"/>
              <a:t>‹#›</a:t>
            </a:fld>
            <a:endParaRPr lang="en-US"/>
          </a:p>
        </p:txBody>
      </p:sp>
    </p:spTree>
    <p:extLst>
      <p:ext uri="{BB962C8B-B14F-4D97-AF65-F5344CB8AC3E}">
        <p14:creationId xmlns:p14="http://schemas.microsoft.com/office/powerpoint/2010/main" val="21649493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46D3E-1B07-5AF4-AD8C-5758F5D9440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BC247E9-073D-20B6-DF92-C1C75152FD0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88AB0C3-68D5-3287-D26E-E6ADACDDB8A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214350C-5680-26EA-75D3-779E3EEC09F6}"/>
              </a:ext>
            </a:extLst>
          </p:cNvPr>
          <p:cNvSpPr>
            <a:spLocks noGrp="1"/>
          </p:cNvSpPr>
          <p:nvPr>
            <p:ph type="dt" sz="half" idx="10"/>
          </p:nvPr>
        </p:nvSpPr>
        <p:spPr/>
        <p:txBody>
          <a:bodyPr/>
          <a:lstStyle/>
          <a:p>
            <a:fld id="{F364AA3D-7631-1042-9D20-0F670A01984D}" type="datetimeFigureOut">
              <a:rPr lang="en-US" smtClean="0"/>
              <a:t>2/20/26</a:t>
            </a:fld>
            <a:endParaRPr lang="en-US"/>
          </a:p>
        </p:txBody>
      </p:sp>
      <p:sp>
        <p:nvSpPr>
          <p:cNvPr id="6" name="Footer Placeholder 5">
            <a:extLst>
              <a:ext uri="{FF2B5EF4-FFF2-40B4-BE49-F238E27FC236}">
                <a16:creationId xmlns:a16="http://schemas.microsoft.com/office/drawing/2014/main" id="{F88AF938-80E0-28DE-B8C0-4C8E81EFA55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91BD295-F717-9A5D-9671-3AB88BBD437D}"/>
              </a:ext>
            </a:extLst>
          </p:cNvPr>
          <p:cNvSpPr>
            <a:spLocks noGrp="1"/>
          </p:cNvSpPr>
          <p:nvPr>
            <p:ph type="sldNum" sz="quarter" idx="12"/>
          </p:nvPr>
        </p:nvSpPr>
        <p:spPr/>
        <p:txBody>
          <a:bodyPr/>
          <a:lstStyle/>
          <a:p>
            <a:fld id="{4107ED18-A071-784D-90D3-5133768A6BA1}" type="slidenum">
              <a:rPr lang="en-US" smtClean="0"/>
              <a:t>‹#›</a:t>
            </a:fld>
            <a:endParaRPr lang="en-US"/>
          </a:p>
        </p:txBody>
      </p:sp>
    </p:spTree>
    <p:extLst>
      <p:ext uri="{BB962C8B-B14F-4D97-AF65-F5344CB8AC3E}">
        <p14:creationId xmlns:p14="http://schemas.microsoft.com/office/powerpoint/2010/main" val="3856125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64CFB-CAE1-F766-8017-383DCE27DFB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12BD65B-4CDB-D2CB-1AB8-94A93555AC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440285E-6FE3-6A5F-59DF-2A76D7CD8B1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569A284-7DC0-2E02-D3E0-215E8AA0685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35E66CD-3833-9575-5618-0383AD285D7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94D6B3E-16AF-19E5-5B95-D295A8122FA5}"/>
              </a:ext>
            </a:extLst>
          </p:cNvPr>
          <p:cNvSpPr>
            <a:spLocks noGrp="1"/>
          </p:cNvSpPr>
          <p:nvPr>
            <p:ph type="dt" sz="half" idx="10"/>
          </p:nvPr>
        </p:nvSpPr>
        <p:spPr/>
        <p:txBody>
          <a:bodyPr/>
          <a:lstStyle/>
          <a:p>
            <a:fld id="{F364AA3D-7631-1042-9D20-0F670A01984D}" type="datetimeFigureOut">
              <a:rPr lang="en-US" smtClean="0"/>
              <a:t>2/20/26</a:t>
            </a:fld>
            <a:endParaRPr lang="en-US"/>
          </a:p>
        </p:txBody>
      </p:sp>
      <p:sp>
        <p:nvSpPr>
          <p:cNvPr id="8" name="Footer Placeholder 7">
            <a:extLst>
              <a:ext uri="{FF2B5EF4-FFF2-40B4-BE49-F238E27FC236}">
                <a16:creationId xmlns:a16="http://schemas.microsoft.com/office/drawing/2014/main" id="{6BC06CA4-3610-8D40-59B6-D810BDD3ECC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BBCB93D-DB5C-A856-C72E-DD914D0D3A76}"/>
              </a:ext>
            </a:extLst>
          </p:cNvPr>
          <p:cNvSpPr>
            <a:spLocks noGrp="1"/>
          </p:cNvSpPr>
          <p:nvPr>
            <p:ph type="sldNum" sz="quarter" idx="12"/>
          </p:nvPr>
        </p:nvSpPr>
        <p:spPr/>
        <p:txBody>
          <a:bodyPr/>
          <a:lstStyle/>
          <a:p>
            <a:fld id="{4107ED18-A071-784D-90D3-5133768A6BA1}" type="slidenum">
              <a:rPr lang="en-US" smtClean="0"/>
              <a:t>‹#›</a:t>
            </a:fld>
            <a:endParaRPr lang="en-US"/>
          </a:p>
        </p:txBody>
      </p:sp>
    </p:spTree>
    <p:extLst>
      <p:ext uri="{BB962C8B-B14F-4D97-AF65-F5344CB8AC3E}">
        <p14:creationId xmlns:p14="http://schemas.microsoft.com/office/powerpoint/2010/main" val="32759303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47C6E-8FE6-8F51-7C40-CB12058EC19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C8C8444-1A6F-7385-FB51-19A8245D9D41}"/>
              </a:ext>
            </a:extLst>
          </p:cNvPr>
          <p:cNvSpPr>
            <a:spLocks noGrp="1"/>
          </p:cNvSpPr>
          <p:nvPr>
            <p:ph type="dt" sz="half" idx="10"/>
          </p:nvPr>
        </p:nvSpPr>
        <p:spPr/>
        <p:txBody>
          <a:bodyPr/>
          <a:lstStyle/>
          <a:p>
            <a:fld id="{F364AA3D-7631-1042-9D20-0F670A01984D}" type="datetimeFigureOut">
              <a:rPr lang="en-US" smtClean="0"/>
              <a:t>2/20/26</a:t>
            </a:fld>
            <a:endParaRPr lang="en-US"/>
          </a:p>
        </p:txBody>
      </p:sp>
      <p:sp>
        <p:nvSpPr>
          <p:cNvPr id="4" name="Footer Placeholder 3">
            <a:extLst>
              <a:ext uri="{FF2B5EF4-FFF2-40B4-BE49-F238E27FC236}">
                <a16:creationId xmlns:a16="http://schemas.microsoft.com/office/drawing/2014/main" id="{76C84531-4800-A3B5-C199-98B5DFBEA3B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3144B40-C2EF-74DD-023D-2352FA777944}"/>
              </a:ext>
            </a:extLst>
          </p:cNvPr>
          <p:cNvSpPr>
            <a:spLocks noGrp="1"/>
          </p:cNvSpPr>
          <p:nvPr>
            <p:ph type="sldNum" sz="quarter" idx="12"/>
          </p:nvPr>
        </p:nvSpPr>
        <p:spPr/>
        <p:txBody>
          <a:bodyPr/>
          <a:lstStyle/>
          <a:p>
            <a:fld id="{4107ED18-A071-784D-90D3-5133768A6BA1}" type="slidenum">
              <a:rPr lang="en-US" smtClean="0"/>
              <a:t>‹#›</a:t>
            </a:fld>
            <a:endParaRPr lang="en-US"/>
          </a:p>
        </p:txBody>
      </p:sp>
    </p:spTree>
    <p:extLst>
      <p:ext uri="{BB962C8B-B14F-4D97-AF65-F5344CB8AC3E}">
        <p14:creationId xmlns:p14="http://schemas.microsoft.com/office/powerpoint/2010/main" val="41634890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689023A-7B0E-0057-BA73-860C48CEB5D8}"/>
              </a:ext>
            </a:extLst>
          </p:cNvPr>
          <p:cNvSpPr>
            <a:spLocks noGrp="1"/>
          </p:cNvSpPr>
          <p:nvPr>
            <p:ph type="dt" sz="half" idx="10"/>
          </p:nvPr>
        </p:nvSpPr>
        <p:spPr/>
        <p:txBody>
          <a:bodyPr/>
          <a:lstStyle/>
          <a:p>
            <a:fld id="{F364AA3D-7631-1042-9D20-0F670A01984D}" type="datetimeFigureOut">
              <a:rPr lang="en-US" smtClean="0"/>
              <a:t>2/20/26</a:t>
            </a:fld>
            <a:endParaRPr lang="en-US"/>
          </a:p>
        </p:txBody>
      </p:sp>
      <p:sp>
        <p:nvSpPr>
          <p:cNvPr id="3" name="Footer Placeholder 2">
            <a:extLst>
              <a:ext uri="{FF2B5EF4-FFF2-40B4-BE49-F238E27FC236}">
                <a16:creationId xmlns:a16="http://schemas.microsoft.com/office/drawing/2014/main" id="{8D501069-39D9-EEF3-46D3-59373E1826F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EBCFB98-4870-819E-44F3-50B309381782}"/>
              </a:ext>
            </a:extLst>
          </p:cNvPr>
          <p:cNvSpPr>
            <a:spLocks noGrp="1"/>
          </p:cNvSpPr>
          <p:nvPr>
            <p:ph type="sldNum" sz="quarter" idx="12"/>
          </p:nvPr>
        </p:nvSpPr>
        <p:spPr/>
        <p:txBody>
          <a:bodyPr/>
          <a:lstStyle/>
          <a:p>
            <a:fld id="{4107ED18-A071-784D-90D3-5133768A6BA1}" type="slidenum">
              <a:rPr lang="en-US" smtClean="0"/>
              <a:t>‹#›</a:t>
            </a:fld>
            <a:endParaRPr lang="en-US"/>
          </a:p>
        </p:txBody>
      </p:sp>
    </p:spTree>
    <p:extLst>
      <p:ext uri="{BB962C8B-B14F-4D97-AF65-F5344CB8AC3E}">
        <p14:creationId xmlns:p14="http://schemas.microsoft.com/office/powerpoint/2010/main" val="42909583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7DD561-A3BD-50F9-5878-773C282A84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B38EFFA-82C9-1926-895A-F8DF3B83969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81C26B1-19AC-0689-CEF8-8C5B0FD214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C3DDA65-0B32-186D-C1F7-D3EF4E1B8ED0}"/>
              </a:ext>
            </a:extLst>
          </p:cNvPr>
          <p:cNvSpPr>
            <a:spLocks noGrp="1"/>
          </p:cNvSpPr>
          <p:nvPr>
            <p:ph type="dt" sz="half" idx="10"/>
          </p:nvPr>
        </p:nvSpPr>
        <p:spPr/>
        <p:txBody>
          <a:bodyPr/>
          <a:lstStyle/>
          <a:p>
            <a:fld id="{F364AA3D-7631-1042-9D20-0F670A01984D}" type="datetimeFigureOut">
              <a:rPr lang="en-US" smtClean="0"/>
              <a:t>2/20/26</a:t>
            </a:fld>
            <a:endParaRPr lang="en-US"/>
          </a:p>
        </p:txBody>
      </p:sp>
      <p:sp>
        <p:nvSpPr>
          <p:cNvPr id="6" name="Footer Placeholder 5">
            <a:extLst>
              <a:ext uri="{FF2B5EF4-FFF2-40B4-BE49-F238E27FC236}">
                <a16:creationId xmlns:a16="http://schemas.microsoft.com/office/drawing/2014/main" id="{F5E5195B-7C07-13B9-AB9D-4F656A97DFF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D747BDB-E529-DC22-A2D2-0352AD27CA91}"/>
              </a:ext>
            </a:extLst>
          </p:cNvPr>
          <p:cNvSpPr>
            <a:spLocks noGrp="1"/>
          </p:cNvSpPr>
          <p:nvPr>
            <p:ph type="sldNum" sz="quarter" idx="12"/>
          </p:nvPr>
        </p:nvSpPr>
        <p:spPr/>
        <p:txBody>
          <a:bodyPr/>
          <a:lstStyle/>
          <a:p>
            <a:fld id="{4107ED18-A071-784D-90D3-5133768A6BA1}" type="slidenum">
              <a:rPr lang="en-US" smtClean="0"/>
              <a:t>‹#›</a:t>
            </a:fld>
            <a:endParaRPr lang="en-US"/>
          </a:p>
        </p:txBody>
      </p:sp>
    </p:spTree>
    <p:extLst>
      <p:ext uri="{BB962C8B-B14F-4D97-AF65-F5344CB8AC3E}">
        <p14:creationId xmlns:p14="http://schemas.microsoft.com/office/powerpoint/2010/main" val="37279306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52EDCF-1BB8-B3C1-5F2C-4B3190CE8F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4013BAF-A07B-85AC-564C-AA4B59AD813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CBAD4B4-35B2-62C5-6BCE-1D4664BE6A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FCEF002-F677-4517-7305-FC06DA2BC5AD}"/>
              </a:ext>
            </a:extLst>
          </p:cNvPr>
          <p:cNvSpPr>
            <a:spLocks noGrp="1"/>
          </p:cNvSpPr>
          <p:nvPr>
            <p:ph type="dt" sz="half" idx="10"/>
          </p:nvPr>
        </p:nvSpPr>
        <p:spPr/>
        <p:txBody>
          <a:bodyPr/>
          <a:lstStyle/>
          <a:p>
            <a:fld id="{F364AA3D-7631-1042-9D20-0F670A01984D}" type="datetimeFigureOut">
              <a:rPr lang="en-US" smtClean="0"/>
              <a:t>2/20/26</a:t>
            </a:fld>
            <a:endParaRPr lang="en-US"/>
          </a:p>
        </p:txBody>
      </p:sp>
      <p:sp>
        <p:nvSpPr>
          <p:cNvPr id="6" name="Footer Placeholder 5">
            <a:extLst>
              <a:ext uri="{FF2B5EF4-FFF2-40B4-BE49-F238E27FC236}">
                <a16:creationId xmlns:a16="http://schemas.microsoft.com/office/drawing/2014/main" id="{DA691E20-CFA2-8865-EC99-8DA90CCFDE9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2FC8474-5BC5-7C4C-B137-40B43D1F37B9}"/>
              </a:ext>
            </a:extLst>
          </p:cNvPr>
          <p:cNvSpPr>
            <a:spLocks noGrp="1"/>
          </p:cNvSpPr>
          <p:nvPr>
            <p:ph type="sldNum" sz="quarter" idx="12"/>
          </p:nvPr>
        </p:nvSpPr>
        <p:spPr/>
        <p:txBody>
          <a:bodyPr/>
          <a:lstStyle/>
          <a:p>
            <a:fld id="{4107ED18-A071-784D-90D3-5133768A6BA1}" type="slidenum">
              <a:rPr lang="en-US" smtClean="0"/>
              <a:t>‹#›</a:t>
            </a:fld>
            <a:endParaRPr lang="en-US"/>
          </a:p>
        </p:txBody>
      </p:sp>
    </p:spTree>
    <p:extLst>
      <p:ext uri="{BB962C8B-B14F-4D97-AF65-F5344CB8AC3E}">
        <p14:creationId xmlns:p14="http://schemas.microsoft.com/office/powerpoint/2010/main" val="40134376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A22FA-1E7B-776C-C7F7-ED8772A5068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1B1D169-FA66-6427-36A8-4D2205806D5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9B32D17-6334-0312-3E1A-8DA6E9CF643D}"/>
              </a:ext>
            </a:extLst>
          </p:cNvPr>
          <p:cNvSpPr>
            <a:spLocks noGrp="1"/>
          </p:cNvSpPr>
          <p:nvPr>
            <p:ph type="dt" sz="half" idx="10"/>
          </p:nvPr>
        </p:nvSpPr>
        <p:spPr/>
        <p:txBody>
          <a:bodyPr/>
          <a:lstStyle/>
          <a:p>
            <a:fld id="{F364AA3D-7631-1042-9D20-0F670A01984D}" type="datetimeFigureOut">
              <a:rPr lang="en-US" smtClean="0"/>
              <a:t>2/20/26</a:t>
            </a:fld>
            <a:endParaRPr lang="en-US"/>
          </a:p>
        </p:txBody>
      </p:sp>
      <p:sp>
        <p:nvSpPr>
          <p:cNvPr id="5" name="Footer Placeholder 4">
            <a:extLst>
              <a:ext uri="{FF2B5EF4-FFF2-40B4-BE49-F238E27FC236}">
                <a16:creationId xmlns:a16="http://schemas.microsoft.com/office/drawing/2014/main" id="{D5B4B880-1406-322B-5A0F-A9DE721162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1350E2-7B54-5BBD-B4CD-DA7B07CA83AF}"/>
              </a:ext>
            </a:extLst>
          </p:cNvPr>
          <p:cNvSpPr>
            <a:spLocks noGrp="1"/>
          </p:cNvSpPr>
          <p:nvPr>
            <p:ph type="sldNum" sz="quarter" idx="12"/>
          </p:nvPr>
        </p:nvSpPr>
        <p:spPr/>
        <p:txBody>
          <a:bodyPr/>
          <a:lstStyle/>
          <a:p>
            <a:fld id="{4107ED18-A071-784D-90D3-5133768A6BA1}" type="slidenum">
              <a:rPr lang="en-US" smtClean="0"/>
              <a:t>‹#›</a:t>
            </a:fld>
            <a:endParaRPr lang="en-US"/>
          </a:p>
        </p:txBody>
      </p:sp>
    </p:spTree>
    <p:extLst>
      <p:ext uri="{BB962C8B-B14F-4D97-AF65-F5344CB8AC3E}">
        <p14:creationId xmlns:p14="http://schemas.microsoft.com/office/powerpoint/2010/main" val="19643513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9B61553-AD7F-8169-2D5F-B81872F6146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08A2C37-2B4C-B207-5351-6EF9AC7D5DE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4161D30-D8A7-5C1C-3034-99C548CA055C}"/>
              </a:ext>
            </a:extLst>
          </p:cNvPr>
          <p:cNvSpPr>
            <a:spLocks noGrp="1"/>
          </p:cNvSpPr>
          <p:nvPr>
            <p:ph type="dt" sz="half" idx="10"/>
          </p:nvPr>
        </p:nvSpPr>
        <p:spPr/>
        <p:txBody>
          <a:bodyPr/>
          <a:lstStyle/>
          <a:p>
            <a:fld id="{F364AA3D-7631-1042-9D20-0F670A01984D}" type="datetimeFigureOut">
              <a:rPr lang="en-US" smtClean="0"/>
              <a:t>2/20/26</a:t>
            </a:fld>
            <a:endParaRPr lang="en-US"/>
          </a:p>
        </p:txBody>
      </p:sp>
      <p:sp>
        <p:nvSpPr>
          <p:cNvPr id="5" name="Footer Placeholder 4">
            <a:extLst>
              <a:ext uri="{FF2B5EF4-FFF2-40B4-BE49-F238E27FC236}">
                <a16:creationId xmlns:a16="http://schemas.microsoft.com/office/drawing/2014/main" id="{C8D290C0-FF9E-AA82-6C55-146194E7D2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D99985-9D16-AB86-5535-2D4B9FDC6063}"/>
              </a:ext>
            </a:extLst>
          </p:cNvPr>
          <p:cNvSpPr>
            <a:spLocks noGrp="1"/>
          </p:cNvSpPr>
          <p:nvPr>
            <p:ph type="sldNum" sz="quarter" idx="12"/>
          </p:nvPr>
        </p:nvSpPr>
        <p:spPr/>
        <p:txBody>
          <a:bodyPr/>
          <a:lstStyle/>
          <a:p>
            <a:fld id="{4107ED18-A071-784D-90D3-5133768A6BA1}" type="slidenum">
              <a:rPr lang="en-US" smtClean="0"/>
              <a:t>‹#›</a:t>
            </a:fld>
            <a:endParaRPr lang="en-US"/>
          </a:p>
        </p:txBody>
      </p:sp>
    </p:spTree>
    <p:extLst>
      <p:ext uri="{BB962C8B-B14F-4D97-AF65-F5344CB8AC3E}">
        <p14:creationId xmlns:p14="http://schemas.microsoft.com/office/powerpoint/2010/main" val="22444660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31F462A-48EE-F416-F023-486C4FD042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9518C41-96CA-9E2C-4C28-726A4F353E0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362B6C-C486-F0A9-C529-2CE88BB0D70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364AA3D-7631-1042-9D20-0F670A01984D}" type="datetimeFigureOut">
              <a:rPr lang="en-US" smtClean="0"/>
              <a:t>2/20/26</a:t>
            </a:fld>
            <a:endParaRPr lang="en-US"/>
          </a:p>
        </p:txBody>
      </p:sp>
      <p:sp>
        <p:nvSpPr>
          <p:cNvPr id="5" name="Footer Placeholder 4">
            <a:extLst>
              <a:ext uri="{FF2B5EF4-FFF2-40B4-BE49-F238E27FC236}">
                <a16:creationId xmlns:a16="http://schemas.microsoft.com/office/drawing/2014/main" id="{0D300247-04ED-7882-0204-1B0C10433BE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EA51206-53C5-286F-54DC-362400A1C97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107ED18-A071-784D-90D3-5133768A6BA1}" type="slidenum">
              <a:rPr lang="en-US" smtClean="0"/>
              <a:t>‹#›</a:t>
            </a:fld>
            <a:endParaRPr lang="en-US"/>
          </a:p>
        </p:txBody>
      </p:sp>
    </p:spTree>
    <p:extLst>
      <p:ext uri="{BB962C8B-B14F-4D97-AF65-F5344CB8AC3E}">
        <p14:creationId xmlns:p14="http://schemas.microsoft.com/office/powerpoint/2010/main" val="12506390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8" Type="http://schemas.openxmlformats.org/officeDocument/2006/relationships/image" Target="../media/image83.png"/><Relationship Id="rId3" Type="http://schemas.openxmlformats.org/officeDocument/2006/relationships/image" Target="../media/image110.png"/><Relationship Id="rId7" Type="http://schemas.openxmlformats.org/officeDocument/2006/relationships/image" Target="../media/image82.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84.png"/></Relationships>
</file>

<file path=ppt/slides/_rels/slide11.xml.rels><?xml version="1.0" encoding="UTF-8" standalone="yes"?>
<Relationships xmlns="http://schemas.openxmlformats.org/package/2006/relationships"><Relationship Id="rId3" Type="http://schemas.openxmlformats.org/officeDocument/2006/relationships/image" Target="../media/image840.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5B36F5-AFC8-24F6-69FD-59776D9735B3}"/>
              </a:ext>
            </a:extLst>
          </p:cNvPr>
          <p:cNvSpPr>
            <a:spLocks noGrp="1"/>
          </p:cNvSpPr>
          <p:nvPr>
            <p:ph type="ctrTitle"/>
          </p:nvPr>
        </p:nvSpPr>
        <p:spPr>
          <a:xfrm>
            <a:off x="1524000" y="1934875"/>
            <a:ext cx="9144000" cy="2387600"/>
          </a:xfrm>
        </p:spPr>
        <p:txBody>
          <a:bodyPr/>
          <a:lstStyle/>
          <a:p>
            <a:r>
              <a:rPr lang="en-US" b="1" dirty="0">
                <a:latin typeface="Cochin" panose="02000603020000020003" pitchFamily="2" charset="0"/>
              </a:rPr>
              <a:t>Simulations &amp; Transmission Efficiencies</a:t>
            </a:r>
            <a:r>
              <a:rPr lang="en-US" b="1" dirty="0"/>
              <a:t> </a:t>
            </a:r>
          </a:p>
        </p:txBody>
      </p:sp>
    </p:spTree>
    <p:extLst>
      <p:ext uri="{BB962C8B-B14F-4D97-AF65-F5344CB8AC3E}">
        <p14:creationId xmlns:p14="http://schemas.microsoft.com/office/powerpoint/2010/main" val="21630312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884B2-B05B-227A-3466-779408D6A191}"/>
              </a:ext>
            </a:extLst>
          </p:cNvPr>
          <p:cNvSpPr>
            <a:spLocks noGrp="1"/>
          </p:cNvSpPr>
          <p:nvPr>
            <p:ph type="title"/>
          </p:nvPr>
        </p:nvSpPr>
        <p:spPr>
          <a:xfrm>
            <a:off x="66457" y="-163585"/>
            <a:ext cx="10515600" cy="1325563"/>
          </a:xfrm>
        </p:spPr>
        <p:txBody>
          <a:bodyPr/>
          <a:lstStyle/>
          <a:p>
            <a:r>
              <a:rPr lang="en-US" b="1" dirty="0">
                <a:latin typeface="Cochin" panose="02000603020000020003" pitchFamily="2" charset="0"/>
              </a:rPr>
              <a:t>GEANT4 </a:t>
            </a:r>
            <a:r>
              <a:rPr lang="en-US" b="1" dirty="0" err="1">
                <a:latin typeface="Cochin" panose="02000603020000020003" pitchFamily="2" charset="0"/>
              </a:rPr>
              <a:t>UserInput</a:t>
            </a:r>
            <a:r>
              <a:rPr lang="en-US" b="1" dirty="0">
                <a:latin typeface="Cochin" panose="02000603020000020003" pitchFamily="2" charset="0"/>
              </a:rPr>
              <a:t>  </a:t>
            </a:r>
          </a:p>
        </p:txBody>
      </p:sp>
      <p:sp>
        <p:nvSpPr>
          <p:cNvPr id="3" name="Content Placeholder 2">
            <a:extLst>
              <a:ext uri="{FF2B5EF4-FFF2-40B4-BE49-F238E27FC236}">
                <a16:creationId xmlns:a16="http://schemas.microsoft.com/office/drawing/2014/main" id="{874C2E1D-637C-8D98-5299-71E74AC5F894}"/>
              </a:ext>
            </a:extLst>
          </p:cNvPr>
          <p:cNvSpPr>
            <a:spLocks noGrp="1"/>
          </p:cNvSpPr>
          <p:nvPr>
            <p:ph idx="1"/>
          </p:nvPr>
        </p:nvSpPr>
        <p:spPr>
          <a:xfrm>
            <a:off x="194048" y="1128608"/>
            <a:ext cx="5259259" cy="2606288"/>
          </a:xfrm>
        </p:spPr>
        <p:txBody>
          <a:bodyPr>
            <a:normAutofit/>
          </a:bodyPr>
          <a:lstStyle/>
          <a:p>
            <a:pPr marL="0" indent="0">
              <a:buNone/>
            </a:pPr>
            <a:r>
              <a:rPr lang="en-US" sz="1400" b="1" dirty="0">
                <a:latin typeface="Cochin" panose="02000603020000020003" pitchFamily="2" charset="0"/>
              </a:rPr>
              <a:t>Beam Parameters: </a:t>
            </a:r>
          </a:p>
          <a:p>
            <a:r>
              <a:rPr lang="en-US" sz="1400" b="1" dirty="0">
                <a:latin typeface="Cochin" panose="02000603020000020003" pitchFamily="2" charset="0"/>
              </a:rPr>
              <a:t>10     # beam Z</a:t>
            </a:r>
          </a:p>
          <a:p>
            <a:r>
              <a:rPr lang="en-US" sz="1400" b="1" dirty="0">
                <a:latin typeface="Cochin" panose="02000603020000020003" pitchFamily="2" charset="0"/>
              </a:rPr>
              <a:t>22    # beam A</a:t>
            </a:r>
          </a:p>
          <a:p>
            <a:r>
              <a:rPr lang="en-US" sz="1400" b="1" dirty="0">
                <a:latin typeface="Cochin" panose="02000603020000020003" pitchFamily="2" charset="0"/>
              </a:rPr>
              <a:t>10     # beam charge state Q</a:t>
            </a:r>
          </a:p>
          <a:p>
            <a:r>
              <a:rPr lang="en-US" sz="1400" b="1" dirty="0">
                <a:latin typeface="Cochin" panose="02000603020000020003" pitchFamily="2" charset="0"/>
              </a:rPr>
              <a:t>66    # beam kinetic energy (MeV)</a:t>
            </a:r>
          </a:p>
          <a:p>
            <a:r>
              <a:rPr lang="en-US" sz="1400" b="1" dirty="0">
                <a:latin typeface="Cochin" panose="02000603020000020003" pitchFamily="2" charset="0"/>
              </a:rPr>
              <a:t>0.2    # fractional energy spread (Sigma %) </a:t>
            </a:r>
          </a:p>
          <a:p>
            <a:r>
              <a:rPr lang="en-US" sz="1400" b="1" dirty="0">
                <a:latin typeface="Cochin" panose="02000603020000020003" pitchFamily="2" charset="0"/>
              </a:rPr>
              <a:t>1.0    # beam-spot diameter (mm) </a:t>
            </a:r>
          </a:p>
          <a:p>
            <a:r>
              <a:rPr lang="en-US" sz="1400" b="1" dirty="0">
                <a:latin typeface="Cochin" panose="02000603020000020003" pitchFamily="2" charset="0"/>
              </a:rPr>
              <a:t>0.2    # normalized transverse emittance (pi mm </a:t>
            </a:r>
            <a:r>
              <a:rPr lang="en-US" sz="1400" b="1" dirty="0" err="1">
                <a:latin typeface="Cochin" panose="02000603020000020003" pitchFamily="2" charset="0"/>
              </a:rPr>
              <a:t>mrad</a:t>
            </a:r>
            <a:r>
              <a:rPr lang="en-US" sz="1400" b="1" dirty="0">
                <a:latin typeface="Cochin" panose="02000603020000020003" pitchFamily="2" charset="0"/>
              </a:rPr>
              <a:t>)</a:t>
            </a:r>
          </a:p>
        </p:txBody>
      </p:sp>
      <p:sp>
        <p:nvSpPr>
          <p:cNvPr id="5" name="TextBox 4">
            <a:extLst>
              <a:ext uri="{FF2B5EF4-FFF2-40B4-BE49-F238E27FC236}">
                <a16:creationId xmlns:a16="http://schemas.microsoft.com/office/drawing/2014/main" id="{DC20370B-161F-36E0-4C1C-484B19269985}"/>
              </a:ext>
            </a:extLst>
          </p:cNvPr>
          <p:cNvSpPr txBox="1"/>
          <p:nvPr/>
        </p:nvSpPr>
        <p:spPr>
          <a:xfrm>
            <a:off x="5569689" y="738981"/>
            <a:ext cx="6725091" cy="3385542"/>
          </a:xfrm>
          <a:prstGeom prst="rect">
            <a:avLst/>
          </a:prstGeom>
          <a:noFill/>
        </p:spPr>
        <p:txBody>
          <a:bodyPr wrap="square">
            <a:spAutoFit/>
          </a:bodyPr>
          <a:lstStyle/>
          <a:p>
            <a:r>
              <a:rPr lang="en-US" sz="1600" b="1" dirty="0">
                <a:latin typeface="Cochin" panose="02000603020000020003" pitchFamily="2" charset="0"/>
              </a:rPr>
              <a:t># Two-body reaction: 1+2-&gt;3+4</a:t>
            </a:r>
          </a:p>
          <a:p>
            <a:r>
              <a:rPr lang="en-US" sz="1600" b="1" dirty="0">
                <a:latin typeface="Cochin" panose="02000603020000020003" pitchFamily="2" charset="0"/>
              </a:rPr>
              <a:t>10       # Z1 beam</a:t>
            </a:r>
          </a:p>
          <a:p>
            <a:r>
              <a:rPr lang="en-US" sz="1600" b="1" dirty="0">
                <a:latin typeface="Cochin" panose="02000603020000020003" pitchFamily="2" charset="0"/>
              </a:rPr>
              <a:t>22       # A1</a:t>
            </a:r>
          </a:p>
          <a:p>
            <a:r>
              <a:rPr lang="en-US" sz="1600" b="1" dirty="0">
                <a:latin typeface="Cochin" panose="02000603020000020003" pitchFamily="2" charset="0"/>
              </a:rPr>
              <a:t>3        # Z2 target</a:t>
            </a:r>
          </a:p>
          <a:p>
            <a:r>
              <a:rPr lang="en-US" sz="1600" b="1" dirty="0">
                <a:latin typeface="Cochin" panose="02000603020000020003" pitchFamily="2" charset="0"/>
              </a:rPr>
              <a:t>7        # A2</a:t>
            </a:r>
          </a:p>
          <a:p>
            <a:r>
              <a:rPr lang="en-US" sz="1600" b="1" dirty="0">
                <a:latin typeface="Cochin" panose="02000603020000020003" pitchFamily="2" charset="0"/>
              </a:rPr>
              <a:t>12       # Z3 recoil</a:t>
            </a:r>
          </a:p>
          <a:p>
            <a:r>
              <a:rPr lang="en-US" sz="1600" b="1" dirty="0">
                <a:latin typeface="Cochin" panose="02000603020000020003" pitchFamily="2" charset="0"/>
              </a:rPr>
              <a:t>26       # A3</a:t>
            </a:r>
          </a:p>
          <a:p>
            <a:r>
              <a:rPr lang="en-US" sz="1600" b="1" dirty="0">
                <a:latin typeface="Cochin" panose="02000603020000020003" pitchFamily="2" charset="0"/>
              </a:rPr>
              <a:t>1        # Z4 </a:t>
            </a:r>
            <a:r>
              <a:rPr lang="en-US" sz="1600" b="1" dirty="0" err="1">
                <a:latin typeface="Cochin" panose="02000603020000020003" pitchFamily="2" charset="0"/>
              </a:rPr>
              <a:t>ejectile</a:t>
            </a:r>
            <a:endParaRPr lang="en-US" sz="1600" b="1" dirty="0">
              <a:latin typeface="Cochin" panose="02000603020000020003" pitchFamily="2" charset="0"/>
            </a:endParaRPr>
          </a:p>
          <a:p>
            <a:r>
              <a:rPr lang="en-US" sz="1600" b="1" dirty="0">
                <a:latin typeface="Cochin" panose="02000603020000020003" pitchFamily="2" charset="0"/>
              </a:rPr>
              <a:t>3        # A4</a:t>
            </a:r>
          </a:p>
          <a:p>
            <a:r>
              <a:rPr lang="en-US" sz="1600" b="1" dirty="0">
                <a:latin typeface="Cochin" panose="02000603020000020003" pitchFamily="2" charset="0"/>
              </a:rPr>
              <a:t>0.0      # min </a:t>
            </a:r>
            <a:r>
              <a:rPr lang="en-US" sz="1600" b="1" dirty="0" err="1">
                <a:latin typeface="Cochin" panose="02000603020000020003" pitchFamily="2" charset="0"/>
              </a:rPr>
              <a:t>c.m.</a:t>
            </a:r>
            <a:r>
              <a:rPr lang="en-US" sz="1600" b="1" dirty="0">
                <a:latin typeface="Cochin" panose="02000603020000020003" pitchFamily="2" charset="0"/>
              </a:rPr>
              <a:t> angle</a:t>
            </a:r>
          </a:p>
          <a:p>
            <a:r>
              <a:rPr lang="en-US" sz="1600" b="1" dirty="0">
                <a:latin typeface="Cochin" panose="02000603020000020003" pitchFamily="2" charset="0"/>
              </a:rPr>
              <a:t>180      # max </a:t>
            </a:r>
            <a:r>
              <a:rPr lang="en-US" sz="1600" b="1" dirty="0" err="1">
                <a:latin typeface="Cochin" panose="02000603020000020003" pitchFamily="2" charset="0"/>
              </a:rPr>
              <a:t>c.m.</a:t>
            </a:r>
            <a:r>
              <a:rPr lang="en-US" sz="1600" b="1" dirty="0">
                <a:latin typeface="Cochin" panose="02000603020000020003" pitchFamily="2" charset="0"/>
              </a:rPr>
              <a:t> angle </a:t>
            </a:r>
          </a:p>
          <a:p>
            <a:r>
              <a:rPr lang="en-US" sz="1600" b="1" dirty="0">
                <a:latin typeface="Cochin" panose="02000603020000020003" pitchFamily="2" charset="0"/>
              </a:rPr>
              <a:t>11       # charge state of recoil</a:t>
            </a:r>
          </a:p>
          <a:p>
            <a:r>
              <a:rPr lang="en-US" sz="1600" b="1" dirty="0">
                <a:latin typeface="Cochin" panose="02000603020000020003" pitchFamily="2" charset="0"/>
              </a:rPr>
              <a:t>11.32      # </a:t>
            </a:r>
            <a:r>
              <a:rPr lang="en-US" sz="1600" b="1" dirty="0" err="1">
                <a:latin typeface="Cochin" panose="02000603020000020003" pitchFamily="2" charset="0"/>
              </a:rPr>
              <a:t>excitatßion</a:t>
            </a:r>
            <a:r>
              <a:rPr lang="en-US" sz="1600" b="1" dirty="0">
                <a:latin typeface="Cochin" panose="02000603020000020003" pitchFamily="2" charset="0"/>
              </a:rPr>
              <a:t> energy of recoil last: 11.910787</a:t>
            </a:r>
          </a:p>
        </p:txBody>
      </p:sp>
      <p:sp>
        <p:nvSpPr>
          <p:cNvPr id="7" name="TextBox 6">
            <a:extLst>
              <a:ext uri="{FF2B5EF4-FFF2-40B4-BE49-F238E27FC236}">
                <a16:creationId xmlns:a16="http://schemas.microsoft.com/office/drawing/2014/main" id="{4BA51EEE-D1D8-7F48-7BD0-F8C50BE2E36B}"/>
              </a:ext>
            </a:extLst>
          </p:cNvPr>
          <p:cNvSpPr txBox="1"/>
          <p:nvPr/>
        </p:nvSpPr>
        <p:spPr>
          <a:xfrm>
            <a:off x="194048" y="4124523"/>
            <a:ext cx="6198780" cy="2123658"/>
          </a:xfrm>
          <a:prstGeom prst="rect">
            <a:avLst/>
          </a:prstGeom>
          <a:noFill/>
        </p:spPr>
        <p:txBody>
          <a:bodyPr wrap="square">
            <a:spAutoFit/>
          </a:bodyPr>
          <a:lstStyle/>
          <a:p>
            <a:r>
              <a:rPr lang="en-US" sz="1600" b="1" dirty="0">
                <a:latin typeface="Cochin" panose="02000603020000020003" pitchFamily="2" charset="0"/>
              </a:rPr>
              <a:t># TARGET</a:t>
            </a:r>
          </a:p>
          <a:p>
            <a:r>
              <a:rPr lang="en-US" sz="1600" b="1" dirty="0">
                <a:latin typeface="Cochin" panose="02000603020000020003" pitchFamily="2" charset="0"/>
              </a:rPr>
              <a:t>IN                 # IN/OUT</a:t>
            </a:r>
          </a:p>
          <a:p>
            <a:r>
              <a:rPr lang="en-US" sz="1600" b="1" dirty="0">
                <a:latin typeface="Cochin" panose="02000603020000020003" pitchFamily="2" charset="0"/>
              </a:rPr>
              <a:t>6.0661318          # thickness (um)</a:t>
            </a:r>
          </a:p>
          <a:p>
            <a:r>
              <a:rPr lang="en-US" sz="1600" b="1" dirty="0">
                <a:latin typeface="Cochin" panose="02000603020000020003" pitchFamily="2" charset="0"/>
              </a:rPr>
              <a:t>0                  # target z position offset (cm)</a:t>
            </a:r>
          </a:p>
          <a:p>
            <a:r>
              <a:rPr lang="en-US" sz="1600" b="1" dirty="0">
                <a:latin typeface="Cochin" panose="02000603020000020003" pitchFamily="2" charset="0"/>
              </a:rPr>
              <a:t>0.8226             # density (g/cm3)</a:t>
            </a:r>
          </a:p>
          <a:p>
            <a:r>
              <a:rPr lang="en-US" sz="1600" b="1" dirty="0">
                <a:latin typeface="Cochin" panose="02000603020000020003" pitchFamily="2" charset="0"/>
              </a:rPr>
              <a:t>2                  # number of elements</a:t>
            </a:r>
          </a:p>
          <a:p>
            <a:r>
              <a:rPr lang="en-US" sz="1600" b="1" dirty="0">
                <a:latin typeface="Cochin" panose="02000603020000020003" pitchFamily="2" charset="0"/>
              </a:rPr>
              <a:t>3 6.94 0.267       # element 1: Z, M (g/mol), mass fraction</a:t>
            </a:r>
          </a:p>
          <a:p>
            <a:r>
              <a:rPr lang="en-US" sz="1600" b="1" dirty="0">
                <a:latin typeface="Cochin" panose="02000603020000020003" pitchFamily="2" charset="0"/>
              </a:rPr>
              <a:t>8 18.998 0.7324	   # element 2: Z, M (g/mol), mass fraction</a:t>
            </a:r>
          </a:p>
        </p:txBody>
      </p:sp>
      <p:sp>
        <p:nvSpPr>
          <p:cNvPr id="9" name="TextBox 8">
            <a:extLst>
              <a:ext uri="{FF2B5EF4-FFF2-40B4-BE49-F238E27FC236}">
                <a16:creationId xmlns:a16="http://schemas.microsoft.com/office/drawing/2014/main" id="{F43F2FCB-D55D-A333-9EA3-BE7B5FF0F135}"/>
              </a:ext>
            </a:extLst>
          </p:cNvPr>
          <p:cNvSpPr txBox="1"/>
          <p:nvPr/>
        </p:nvSpPr>
        <p:spPr>
          <a:xfrm>
            <a:off x="6515100" y="4401522"/>
            <a:ext cx="6198780" cy="1569660"/>
          </a:xfrm>
          <a:prstGeom prst="rect">
            <a:avLst/>
          </a:prstGeom>
          <a:noFill/>
        </p:spPr>
        <p:txBody>
          <a:bodyPr wrap="square">
            <a:spAutoFit/>
          </a:bodyPr>
          <a:lstStyle/>
          <a:p>
            <a:r>
              <a:rPr lang="en-US" sz="1600" b="1" dirty="0">
                <a:latin typeface="Cochin" panose="02000603020000020003" pitchFamily="2" charset="0"/>
              </a:rPr>
              <a:t># DEGRADER 1 (Carbon Backing)</a:t>
            </a:r>
          </a:p>
          <a:p>
            <a:r>
              <a:rPr lang="en-US" sz="1600" b="1" dirty="0">
                <a:latin typeface="Cochin" panose="02000603020000020003" pitchFamily="2" charset="0"/>
              </a:rPr>
              <a:t>IN                 # IN/OUT</a:t>
            </a:r>
          </a:p>
          <a:p>
            <a:r>
              <a:rPr lang="en-US" sz="1600" b="1" dirty="0">
                <a:latin typeface="Cochin" panose="02000603020000020003" pitchFamily="2" charset="0"/>
              </a:rPr>
              <a:t>0.225                 # thickness (um)</a:t>
            </a:r>
          </a:p>
          <a:p>
            <a:r>
              <a:rPr lang="en-US" sz="1600" b="1" dirty="0">
                <a:latin typeface="Cochin" panose="02000603020000020003" pitchFamily="2" charset="0"/>
              </a:rPr>
              <a:t>2.26              # density (g/cm3)</a:t>
            </a:r>
          </a:p>
          <a:p>
            <a:r>
              <a:rPr lang="en-US" sz="1600" b="1" dirty="0">
                <a:latin typeface="Cochin" panose="02000603020000020003" pitchFamily="2" charset="0"/>
              </a:rPr>
              <a:t>1                  # number of elements</a:t>
            </a:r>
          </a:p>
          <a:p>
            <a:r>
              <a:rPr lang="en-US" sz="1600" b="1" dirty="0">
                <a:latin typeface="Cochin" panose="02000603020000020003" pitchFamily="2" charset="0"/>
              </a:rPr>
              <a:t>6 12 1       # element 1: Z, M (g/mol), weight ratio</a:t>
            </a:r>
          </a:p>
        </p:txBody>
      </p:sp>
    </p:spTree>
    <p:extLst>
      <p:ext uri="{BB962C8B-B14F-4D97-AF65-F5344CB8AC3E}">
        <p14:creationId xmlns:p14="http://schemas.microsoft.com/office/powerpoint/2010/main" val="31250065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AF952-3563-96A2-D7D6-7FB315F9F0CB}"/>
              </a:ext>
            </a:extLst>
          </p:cNvPr>
          <p:cNvSpPr>
            <a:spLocks noGrp="1"/>
          </p:cNvSpPr>
          <p:nvPr>
            <p:ph type="title"/>
          </p:nvPr>
        </p:nvSpPr>
        <p:spPr>
          <a:xfrm>
            <a:off x="88900" y="-104775"/>
            <a:ext cx="10515600" cy="1325563"/>
          </a:xfrm>
        </p:spPr>
        <p:txBody>
          <a:bodyPr/>
          <a:lstStyle/>
          <a:p>
            <a:r>
              <a:rPr lang="en-US" b="1" dirty="0">
                <a:latin typeface="Cochin" panose="02000603020000020003" pitchFamily="2" charset="0"/>
              </a:rPr>
              <a:t>Tracking 26Mg</a:t>
            </a:r>
          </a:p>
        </p:txBody>
      </p:sp>
      <p:sp>
        <p:nvSpPr>
          <p:cNvPr id="3" name="Content Placeholder 2">
            <a:extLst>
              <a:ext uri="{FF2B5EF4-FFF2-40B4-BE49-F238E27FC236}">
                <a16:creationId xmlns:a16="http://schemas.microsoft.com/office/drawing/2014/main" id="{0124EF12-EB36-0E45-E174-15AA98DDACFC}"/>
              </a:ext>
            </a:extLst>
          </p:cNvPr>
          <p:cNvSpPr>
            <a:spLocks noGrp="1"/>
          </p:cNvSpPr>
          <p:nvPr>
            <p:ph idx="1"/>
          </p:nvPr>
        </p:nvSpPr>
        <p:spPr>
          <a:xfrm>
            <a:off x="254000" y="1093788"/>
            <a:ext cx="7658100" cy="1629522"/>
          </a:xfrm>
        </p:spPr>
        <p:txBody>
          <a:bodyPr>
            <a:normAutofit lnSpcReduction="10000"/>
          </a:bodyPr>
          <a:lstStyle/>
          <a:p>
            <a:pPr marL="0" indent="0">
              <a:buNone/>
            </a:pPr>
            <a:r>
              <a:rPr lang="en-US" sz="1800" b="1" dirty="0">
                <a:latin typeface="Cochin" panose="02000603020000020003" pitchFamily="2" charset="0"/>
              </a:rPr>
              <a:t>Commit 881c14f681a4c4a3e2f8b02c081c5b37392fbdab</a:t>
            </a:r>
          </a:p>
          <a:p>
            <a:pPr marL="0" indent="0">
              <a:buNone/>
            </a:pPr>
            <a:r>
              <a:rPr lang="en-US" sz="1800" dirty="0">
                <a:latin typeface="Cochin" panose="02000603020000020003" pitchFamily="2" charset="0"/>
              </a:rPr>
              <a:t>This is the version of the simulation that outputs 2 files: </a:t>
            </a:r>
          </a:p>
          <a:p>
            <a:pPr marL="0" indent="0">
              <a:buNone/>
            </a:pPr>
            <a:r>
              <a:rPr lang="en-US" sz="1800" dirty="0" err="1">
                <a:latin typeface="Cochin" panose="02000603020000020003" pitchFamily="2" charset="0"/>
              </a:rPr>
              <a:t>Ex_xxMeV_Angledeg.dat</a:t>
            </a:r>
            <a:r>
              <a:rPr lang="en-US" sz="1800" dirty="0">
                <a:latin typeface="Cochin" panose="02000603020000020003" pitchFamily="2" charset="0"/>
              </a:rPr>
              <a:t> (main data file 13 columns), </a:t>
            </a:r>
          </a:p>
          <a:p>
            <a:pPr marL="0" indent="0">
              <a:buNone/>
            </a:pPr>
            <a:r>
              <a:rPr lang="en-US" sz="1800" dirty="0" err="1">
                <a:latin typeface="Cochin" panose="02000603020000020003" pitchFamily="2" charset="0"/>
              </a:rPr>
              <a:t>SpecEx_xxMeV_angledeg.dat</a:t>
            </a:r>
            <a:r>
              <a:rPr lang="en-US" sz="1800" dirty="0">
                <a:latin typeface="Cochin" panose="02000603020000020003" pitchFamily="2" charset="0"/>
              </a:rPr>
              <a:t> (Recoil info for transmission efficiency calculation)</a:t>
            </a:r>
          </a:p>
          <a:p>
            <a:pPr marL="0" indent="0">
              <a:buNone/>
            </a:pPr>
            <a:endParaRPr lang="en-US" sz="1800" b="1" dirty="0">
              <a:latin typeface="Cochin" panose="02000603020000020003" pitchFamily="2" charset="0"/>
            </a:endParaRPr>
          </a:p>
          <a:p>
            <a:pPr marL="0" indent="0">
              <a:buNone/>
            </a:pPr>
            <a:endParaRPr lang="en-US" dirty="0">
              <a:latin typeface="Cochin" panose="02000603020000020003" pitchFamily="2" charset="0"/>
            </a:endParaRPr>
          </a:p>
          <a:p>
            <a:endParaRPr lang="en-US" dirty="0">
              <a:latin typeface="Cochin" panose="02000603020000020003" pitchFamily="2" charset="0"/>
            </a:endParaRPr>
          </a:p>
        </p:txBody>
      </p:sp>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96A05B06-B3E6-1ABA-3BFB-1B67445881DA}"/>
                  </a:ext>
                </a:extLst>
              </p:cNvPr>
              <p:cNvGraphicFramePr>
                <a:graphicFrameLocks noGrp="1"/>
              </p:cNvGraphicFramePr>
              <p:nvPr>
                <p:extLst>
                  <p:ext uri="{D42A27DB-BD31-4B8C-83A1-F6EECF244321}">
                    <p14:modId xmlns:p14="http://schemas.microsoft.com/office/powerpoint/2010/main" val="862973897"/>
                  </p:ext>
                </p:extLst>
              </p:nvPr>
            </p:nvGraphicFramePr>
            <p:xfrm>
              <a:off x="88900" y="3127914"/>
              <a:ext cx="11988800" cy="602171"/>
            </p:xfrm>
            <a:graphic>
              <a:graphicData uri="http://schemas.openxmlformats.org/drawingml/2006/table">
                <a:tbl>
                  <a:tblPr firstRow="1" bandRow="1">
                    <a:tableStyleId>{5C22544A-7EE6-4342-B048-85BDC9FD1C3A}</a:tableStyleId>
                  </a:tblPr>
                  <a:tblGrid>
                    <a:gridCol w="698500">
                      <a:extLst>
                        <a:ext uri="{9D8B030D-6E8A-4147-A177-3AD203B41FA5}">
                          <a16:colId xmlns:a16="http://schemas.microsoft.com/office/drawing/2014/main" val="2616550021"/>
                        </a:ext>
                      </a:extLst>
                    </a:gridCol>
                    <a:gridCol w="723900">
                      <a:extLst>
                        <a:ext uri="{9D8B030D-6E8A-4147-A177-3AD203B41FA5}">
                          <a16:colId xmlns:a16="http://schemas.microsoft.com/office/drawing/2014/main" val="1827938480"/>
                        </a:ext>
                      </a:extLst>
                    </a:gridCol>
                    <a:gridCol w="990600">
                      <a:extLst>
                        <a:ext uri="{9D8B030D-6E8A-4147-A177-3AD203B41FA5}">
                          <a16:colId xmlns:a16="http://schemas.microsoft.com/office/drawing/2014/main" val="3023801894"/>
                        </a:ext>
                      </a:extLst>
                    </a:gridCol>
                    <a:gridCol w="965200">
                      <a:extLst>
                        <a:ext uri="{9D8B030D-6E8A-4147-A177-3AD203B41FA5}">
                          <a16:colId xmlns:a16="http://schemas.microsoft.com/office/drawing/2014/main" val="9232552"/>
                        </a:ext>
                      </a:extLst>
                    </a:gridCol>
                    <a:gridCol w="1016000">
                      <a:extLst>
                        <a:ext uri="{9D8B030D-6E8A-4147-A177-3AD203B41FA5}">
                          <a16:colId xmlns:a16="http://schemas.microsoft.com/office/drawing/2014/main" val="808390179"/>
                        </a:ext>
                      </a:extLst>
                    </a:gridCol>
                    <a:gridCol w="1117600">
                      <a:extLst>
                        <a:ext uri="{9D8B030D-6E8A-4147-A177-3AD203B41FA5}">
                          <a16:colId xmlns:a16="http://schemas.microsoft.com/office/drawing/2014/main" val="2407729175"/>
                        </a:ext>
                      </a:extLst>
                    </a:gridCol>
                    <a:gridCol w="825500">
                      <a:extLst>
                        <a:ext uri="{9D8B030D-6E8A-4147-A177-3AD203B41FA5}">
                          <a16:colId xmlns:a16="http://schemas.microsoft.com/office/drawing/2014/main" val="3090629922"/>
                        </a:ext>
                      </a:extLst>
                    </a:gridCol>
                    <a:gridCol w="825500">
                      <a:extLst>
                        <a:ext uri="{9D8B030D-6E8A-4147-A177-3AD203B41FA5}">
                          <a16:colId xmlns:a16="http://schemas.microsoft.com/office/drawing/2014/main" val="2252727307"/>
                        </a:ext>
                      </a:extLst>
                    </a:gridCol>
                    <a:gridCol w="1079500">
                      <a:extLst>
                        <a:ext uri="{9D8B030D-6E8A-4147-A177-3AD203B41FA5}">
                          <a16:colId xmlns:a16="http://schemas.microsoft.com/office/drawing/2014/main" val="1009258725"/>
                        </a:ext>
                      </a:extLst>
                    </a:gridCol>
                    <a:gridCol w="990600">
                      <a:extLst>
                        <a:ext uri="{9D8B030D-6E8A-4147-A177-3AD203B41FA5}">
                          <a16:colId xmlns:a16="http://schemas.microsoft.com/office/drawing/2014/main" val="1904669622"/>
                        </a:ext>
                      </a:extLst>
                    </a:gridCol>
                    <a:gridCol w="1079500">
                      <a:extLst>
                        <a:ext uri="{9D8B030D-6E8A-4147-A177-3AD203B41FA5}">
                          <a16:colId xmlns:a16="http://schemas.microsoft.com/office/drawing/2014/main" val="4267762990"/>
                        </a:ext>
                      </a:extLst>
                    </a:gridCol>
                    <a:gridCol w="952500">
                      <a:extLst>
                        <a:ext uri="{9D8B030D-6E8A-4147-A177-3AD203B41FA5}">
                          <a16:colId xmlns:a16="http://schemas.microsoft.com/office/drawing/2014/main" val="1611272403"/>
                        </a:ext>
                      </a:extLst>
                    </a:gridCol>
                    <a:gridCol w="723900">
                      <a:extLst>
                        <a:ext uri="{9D8B030D-6E8A-4147-A177-3AD203B41FA5}">
                          <a16:colId xmlns:a16="http://schemas.microsoft.com/office/drawing/2014/main" val="1598269237"/>
                        </a:ext>
                      </a:extLst>
                    </a:gridCol>
                  </a:tblGrid>
                  <a:tr h="370840">
                    <a:tc>
                      <a:txBody>
                        <a:bodyPr/>
                        <a:lstStyle/>
                        <a:p>
                          <a:pPr/>
                          <a14:m>
                            <m:oMathPara xmlns:m="http://schemas.openxmlformats.org/officeDocument/2006/math">
                              <m:oMathParaPr>
                                <m:jc m:val="centerGroup"/>
                              </m:oMathParaPr>
                              <m:oMath xmlns:m="http://schemas.openxmlformats.org/officeDocument/2006/math">
                                <m:sSub>
                                  <m:sSubPr>
                                    <m:ctrlPr>
                                      <a:rPr lang="en-US" sz="1600" i="1" smtClean="0">
                                        <a:latin typeface="Cambria Math" panose="02040503050406030204" pitchFamily="18" charset="0"/>
                                      </a:rPr>
                                    </m:ctrlPr>
                                  </m:sSubPr>
                                  <m:e>
                                    <m:r>
                                      <a:rPr lang="en-CA" sz="1600" b="1" i="1" smtClean="0">
                                        <a:latin typeface="Cambria Math" panose="02040503050406030204" pitchFamily="18" charset="0"/>
                                      </a:rPr>
                                      <m:t>𝒁</m:t>
                                    </m:r>
                                  </m:e>
                                  <m:sub>
                                    <m:r>
                                      <a:rPr lang="en-CA" sz="1600" b="1" i="1" smtClean="0">
                                        <a:latin typeface="Cambria Math" panose="02040503050406030204" pitchFamily="18" charset="0"/>
                                      </a:rPr>
                                      <m:t>𝒓𝒆𝒄</m:t>
                                    </m:r>
                                  </m:sub>
                                </m:sSub>
                              </m:oMath>
                            </m:oMathPara>
                          </a14:m>
                          <a:endParaRPr lang="en-US" sz="1600"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sz="1600" i="1" smtClean="0">
                                        <a:latin typeface="Cambria Math" panose="02040503050406030204" pitchFamily="18" charset="0"/>
                                      </a:rPr>
                                    </m:ctrlPr>
                                  </m:sSubPr>
                                  <m:e>
                                    <m:r>
                                      <a:rPr lang="en-CA" sz="1600" b="1" i="1" smtClean="0">
                                        <a:latin typeface="Cambria Math" panose="02040503050406030204" pitchFamily="18" charset="0"/>
                                      </a:rPr>
                                      <m:t>𝑨</m:t>
                                    </m:r>
                                  </m:e>
                                  <m:sub>
                                    <m:r>
                                      <a:rPr lang="en-CA" sz="1600" b="1" i="1" smtClean="0">
                                        <a:latin typeface="Cambria Math" panose="02040503050406030204" pitchFamily="18" charset="0"/>
                                      </a:rPr>
                                      <m:t>𝒓𝒆𝒄</m:t>
                                    </m:r>
                                  </m:sub>
                                </m:sSub>
                              </m:oMath>
                            </m:oMathPara>
                          </a14:m>
                          <a:endParaRPr lang="en-US" sz="1600"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sz="1600" i="1" smtClean="0">
                                        <a:latin typeface="Cambria Math" panose="02040503050406030204" pitchFamily="18" charset="0"/>
                                      </a:rPr>
                                    </m:ctrlPr>
                                  </m:sSubPr>
                                  <m:e>
                                    <m:r>
                                      <a:rPr lang="en-CA" sz="1600" b="1" i="1" smtClean="0">
                                        <a:latin typeface="Cambria Math" panose="02040503050406030204" pitchFamily="18" charset="0"/>
                                      </a:rPr>
                                      <m:t>𝑬</m:t>
                                    </m:r>
                                  </m:e>
                                  <m:sub>
                                    <m:r>
                                      <a:rPr lang="en-CA" sz="1600" b="1" i="1" smtClean="0">
                                        <a:latin typeface="Cambria Math" panose="02040503050406030204" pitchFamily="18" charset="0"/>
                                      </a:rPr>
                                      <m:t>𝒍𝒂</m:t>
                                    </m:r>
                                    <m:sSub>
                                      <m:sSubPr>
                                        <m:ctrlPr>
                                          <a:rPr lang="en-CA" sz="1600" b="1" i="1" smtClean="0">
                                            <a:latin typeface="Cambria Math" panose="02040503050406030204" pitchFamily="18" charset="0"/>
                                          </a:rPr>
                                        </m:ctrlPr>
                                      </m:sSubPr>
                                      <m:e>
                                        <m:r>
                                          <a:rPr lang="en-CA" sz="1600" b="1" i="1" smtClean="0">
                                            <a:latin typeface="Cambria Math" panose="02040503050406030204" pitchFamily="18" charset="0"/>
                                          </a:rPr>
                                          <m:t>𝒃</m:t>
                                        </m:r>
                                      </m:e>
                                      <m:sub>
                                        <m:r>
                                          <a:rPr lang="en-CA" sz="1600" b="1" i="1" smtClean="0">
                                            <a:latin typeface="Cambria Math" panose="02040503050406030204" pitchFamily="18" charset="0"/>
                                          </a:rPr>
                                          <m:t>_</m:t>
                                        </m:r>
                                      </m:sub>
                                    </m:sSub>
                                    <m:r>
                                      <a:rPr lang="en-CA" sz="1600" b="1" i="1" smtClean="0">
                                        <a:latin typeface="Cambria Math" panose="02040503050406030204" pitchFamily="18" charset="0"/>
                                      </a:rPr>
                                      <m:t>𝒓𝒆𝒄</m:t>
                                    </m:r>
                                  </m:sub>
                                </m:sSub>
                              </m:oMath>
                            </m:oMathPara>
                          </a14:m>
                          <a:endParaRPr lang="en-US" sz="1600"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sz="1600" i="1" smtClean="0">
                                        <a:latin typeface="Cambria Math" panose="02040503050406030204" pitchFamily="18" charset="0"/>
                                      </a:rPr>
                                    </m:ctrlPr>
                                  </m:sSubPr>
                                  <m:e>
                                    <m:r>
                                      <a:rPr lang="en-US" sz="1600" i="1" smtClean="0">
                                        <a:latin typeface="Cambria Math" panose="02040503050406030204" pitchFamily="18" charset="0"/>
                                        <a:ea typeface="Cambria Math" panose="02040503050406030204" pitchFamily="18" charset="0"/>
                                      </a:rPr>
                                      <m:t>𝜽</m:t>
                                    </m:r>
                                  </m:e>
                                  <m:sub>
                                    <m:r>
                                      <a:rPr lang="en-CA" sz="1600" b="1" i="1" smtClean="0">
                                        <a:latin typeface="Cambria Math" panose="02040503050406030204" pitchFamily="18" charset="0"/>
                                      </a:rPr>
                                      <m:t>𝒍𝒂𝒃</m:t>
                                    </m:r>
                                    <m:r>
                                      <a:rPr lang="en-CA" sz="1600" b="1" i="1" smtClean="0">
                                        <a:latin typeface="Cambria Math" panose="02040503050406030204" pitchFamily="18" charset="0"/>
                                      </a:rPr>
                                      <m:t>_</m:t>
                                    </m:r>
                                    <m:r>
                                      <a:rPr lang="en-CA" sz="1600" b="1" i="1" smtClean="0">
                                        <a:latin typeface="Cambria Math" panose="02040503050406030204" pitchFamily="18" charset="0"/>
                                      </a:rPr>
                                      <m:t>𝒓𝒆𝒄</m:t>
                                    </m:r>
                                  </m:sub>
                                </m:sSub>
                              </m:oMath>
                            </m:oMathPara>
                          </a14:m>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1600" i="1" smtClean="0">
                                        <a:latin typeface="Cambria Math" panose="02040503050406030204" pitchFamily="18" charset="0"/>
                                      </a:rPr>
                                    </m:ctrlPr>
                                  </m:sSubPr>
                                  <m:e>
                                    <m:r>
                                      <a:rPr lang="en-US" sz="1600" i="1" smtClean="0">
                                        <a:latin typeface="Cambria Math" panose="02040503050406030204" pitchFamily="18" charset="0"/>
                                        <a:ea typeface="Cambria Math" panose="02040503050406030204" pitchFamily="18" charset="0"/>
                                      </a:rPr>
                                      <m:t>𝚽</m:t>
                                    </m:r>
                                  </m:e>
                                  <m:sub>
                                    <m:r>
                                      <a:rPr lang="en-CA" sz="1600" b="1" i="1" smtClean="0">
                                        <a:latin typeface="Cambria Math" panose="02040503050406030204" pitchFamily="18" charset="0"/>
                                      </a:rPr>
                                      <m:t>𝒍𝒂𝒃</m:t>
                                    </m:r>
                                    <m:r>
                                      <a:rPr lang="en-CA" sz="1600" b="1" i="1" smtClean="0">
                                        <a:latin typeface="Cambria Math" panose="02040503050406030204" pitchFamily="18" charset="0"/>
                                      </a:rPr>
                                      <m:t>_</m:t>
                                    </m:r>
                                    <m:r>
                                      <a:rPr lang="en-CA" sz="1600" b="1" i="1" smtClean="0">
                                        <a:latin typeface="Cambria Math" panose="02040503050406030204" pitchFamily="18" charset="0"/>
                                      </a:rPr>
                                      <m:t>𝒓𝒆𝒄</m:t>
                                    </m:r>
                                  </m:sub>
                                </m:sSub>
                              </m:oMath>
                            </m:oMathPara>
                          </a14:m>
                          <a:endParaRPr lang="en-US" sz="1600" dirty="0"/>
                        </a:p>
                        <a:p>
                          <a:endParaRPr lang="en-US" sz="1600"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sz="1600" i="1" smtClean="0">
                                        <a:latin typeface="Cambria Math" panose="02040503050406030204" pitchFamily="18" charset="0"/>
                                      </a:rPr>
                                    </m:ctrlPr>
                                  </m:sSubPr>
                                  <m:e>
                                    <m:r>
                                      <a:rPr lang="en-US" sz="1600" i="1" smtClean="0">
                                        <a:latin typeface="Cambria Math" panose="02040503050406030204" pitchFamily="18" charset="0"/>
                                        <a:ea typeface="Cambria Math" panose="02040503050406030204" pitchFamily="18" charset="0"/>
                                      </a:rPr>
                                      <m:t>𝜽</m:t>
                                    </m:r>
                                  </m:e>
                                  <m:sub>
                                    <m:r>
                                      <a:rPr lang="en-CA" sz="1600" b="1" i="1" smtClean="0">
                                        <a:latin typeface="Cambria Math" panose="02040503050406030204" pitchFamily="18" charset="0"/>
                                        <a:ea typeface="Cambria Math" panose="02040503050406030204" pitchFamily="18" charset="0"/>
                                      </a:rPr>
                                      <m:t>𝒄𝒎</m:t>
                                    </m:r>
                                    <m:r>
                                      <a:rPr lang="en-CA" sz="1600" b="1" i="1" smtClean="0">
                                        <a:latin typeface="Cambria Math" panose="02040503050406030204" pitchFamily="18" charset="0"/>
                                      </a:rPr>
                                      <m:t>_</m:t>
                                    </m:r>
                                    <m:r>
                                      <a:rPr lang="en-CA" sz="1600" b="1" i="1" smtClean="0">
                                        <a:latin typeface="Cambria Math" panose="02040503050406030204" pitchFamily="18" charset="0"/>
                                      </a:rPr>
                                      <m:t>𝒓𝒆𝒄</m:t>
                                    </m:r>
                                  </m:sub>
                                </m:sSub>
                              </m:oMath>
                            </m:oMathPara>
                          </a14:m>
                          <a:endParaRPr lang="en-US" sz="1600"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sz="1600" i="1" smtClean="0">
                                        <a:latin typeface="Cambria Math" panose="02040503050406030204" pitchFamily="18" charset="0"/>
                                      </a:rPr>
                                    </m:ctrlPr>
                                  </m:sSubPr>
                                  <m:e>
                                    <m:r>
                                      <a:rPr lang="en-CA" sz="1600" b="1" i="1" smtClean="0">
                                        <a:latin typeface="Cambria Math" panose="02040503050406030204" pitchFamily="18" charset="0"/>
                                      </a:rPr>
                                      <m:t>𝒁</m:t>
                                    </m:r>
                                  </m:e>
                                  <m:sub>
                                    <m:r>
                                      <a:rPr lang="en-CA" sz="1600" b="1" i="1" smtClean="0">
                                        <a:latin typeface="Cambria Math" panose="02040503050406030204" pitchFamily="18" charset="0"/>
                                      </a:rPr>
                                      <m:t>𝒆𝒋𝒆𝒄</m:t>
                                    </m:r>
                                  </m:sub>
                                </m:sSub>
                              </m:oMath>
                            </m:oMathPara>
                          </a14:m>
                          <a:endParaRPr lang="en-US" sz="1600"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sz="1600" i="1" smtClean="0">
                                        <a:latin typeface="Cambria Math" panose="02040503050406030204" pitchFamily="18" charset="0"/>
                                      </a:rPr>
                                    </m:ctrlPr>
                                  </m:sSubPr>
                                  <m:e>
                                    <m:r>
                                      <a:rPr lang="en-CA" sz="1600" b="1" i="1" smtClean="0">
                                        <a:latin typeface="Cambria Math" panose="02040503050406030204" pitchFamily="18" charset="0"/>
                                      </a:rPr>
                                      <m:t>𝑨</m:t>
                                    </m:r>
                                  </m:e>
                                  <m:sub>
                                    <m:r>
                                      <a:rPr lang="en-CA" sz="1600" b="1" i="1" smtClean="0">
                                        <a:latin typeface="Cambria Math" panose="02040503050406030204" pitchFamily="18" charset="0"/>
                                      </a:rPr>
                                      <m:t>𝒆𝒋𝒆𝒄</m:t>
                                    </m:r>
                                  </m:sub>
                                </m:sSub>
                              </m:oMath>
                            </m:oMathPara>
                          </a14:m>
                          <a:endParaRPr lang="en-US" sz="1600"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sz="1600" i="1" smtClean="0">
                                        <a:latin typeface="Cambria Math" panose="02040503050406030204" pitchFamily="18" charset="0"/>
                                      </a:rPr>
                                    </m:ctrlPr>
                                  </m:sSubPr>
                                  <m:e>
                                    <m:r>
                                      <a:rPr lang="en-CA" sz="1600" b="1" i="1" smtClean="0">
                                        <a:latin typeface="Cambria Math" panose="02040503050406030204" pitchFamily="18" charset="0"/>
                                      </a:rPr>
                                      <m:t>𝑬</m:t>
                                    </m:r>
                                  </m:e>
                                  <m:sub>
                                    <m:r>
                                      <a:rPr lang="en-CA" sz="1600" b="1" i="1" smtClean="0">
                                        <a:latin typeface="Cambria Math" panose="02040503050406030204" pitchFamily="18" charset="0"/>
                                      </a:rPr>
                                      <m:t>𝒍𝒂𝒃</m:t>
                                    </m:r>
                                    <m:r>
                                      <a:rPr lang="en-CA" sz="1600" b="1" i="1" smtClean="0">
                                        <a:latin typeface="Cambria Math" panose="02040503050406030204" pitchFamily="18" charset="0"/>
                                      </a:rPr>
                                      <m:t>_</m:t>
                                    </m:r>
                                    <m:r>
                                      <a:rPr lang="en-CA" sz="1600" b="1" i="1" smtClean="0">
                                        <a:latin typeface="Cambria Math" panose="02040503050406030204" pitchFamily="18" charset="0"/>
                                      </a:rPr>
                                      <m:t>𝒆𝒋𝒆𝒄</m:t>
                                    </m:r>
                                  </m:sub>
                                </m:sSub>
                              </m:oMath>
                            </m:oMathPara>
                          </a14:m>
                          <a:endParaRPr lang="en-US" sz="1600"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sz="1600" i="1" smtClean="0">
                                        <a:latin typeface="Cambria Math" panose="02040503050406030204" pitchFamily="18" charset="0"/>
                                      </a:rPr>
                                    </m:ctrlPr>
                                  </m:sSubPr>
                                  <m:e>
                                    <m:r>
                                      <a:rPr lang="en-US" sz="1600" i="1" smtClean="0">
                                        <a:latin typeface="Cambria Math" panose="02040503050406030204" pitchFamily="18" charset="0"/>
                                        <a:ea typeface="Cambria Math" panose="02040503050406030204" pitchFamily="18" charset="0"/>
                                      </a:rPr>
                                      <m:t>𝜽</m:t>
                                    </m:r>
                                  </m:e>
                                  <m:sub>
                                    <m:r>
                                      <a:rPr lang="en-CA" sz="1600" b="1" i="1" smtClean="0">
                                        <a:latin typeface="Cambria Math" panose="02040503050406030204" pitchFamily="18" charset="0"/>
                                      </a:rPr>
                                      <m:t>𝒍𝒂𝒃</m:t>
                                    </m:r>
                                    <m:r>
                                      <a:rPr lang="en-CA" sz="1600" b="1" i="1" smtClean="0">
                                        <a:latin typeface="Cambria Math" panose="02040503050406030204" pitchFamily="18" charset="0"/>
                                      </a:rPr>
                                      <m:t>_</m:t>
                                    </m:r>
                                    <m:r>
                                      <a:rPr lang="en-CA" sz="1600" b="1" i="1" smtClean="0">
                                        <a:latin typeface="Cambria Math" panose="02040503050406030204" pitchFamily="18" charset="0"/>
                                      </a:rPr>
                                      <m:t>𝒆𝒋𝒆𝒄</m:t>
                                    </m:r>
                                  </m:sub>
                                </m:sSub>
                              </m:oMath>
                            </m:oMathPara>
                          </a14:m>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1600" i="1" smtClean="0">
                                        <a:latin typeface="Cambria Math" panose="02040503050406030204" pitchFamily="18" charset="0"/>
                                      </a:rPr>
                                    </m:ctrlPr>
                                  </m:sSubPr>
                                  <m:e>
                                    <m:r>
                                      <a:rPr lang="en-US" sz="1600" i="1" smtClean="0">
                                        <a:latin typeface="Cambria Math" panose="02040503050406030204" pitchFamily="18" charset="0"/>
                                        <a:ea typeface="Cambria Math" panose="02040503050406030204" pitchFamily="18" charset="0"/>
                                      </a:rPr>
                                      <m:t>𝚽</m:t>
                                    </m:r>
                                  </m:e>
                                  <m:sub>
                                    <m:r>
                                      <a:rPr lang="en-CA" sz="1600" b="1" i="1" smtClean="0">
                                        <a:latin typeface="Cambria Math" panose="02040503050406030204" pitchFamily="18" charset="0"/>
                                      </a:rPr>
                                      <m:t>𝒍𝒂𝒃</m:t>
                                    </m:r>
                                    <m:r>
                                      <a:rPr lang="en-CA" sz="1600" b="1" i="1" smtClean="0">
                                        <a:latin typeface="Cambria Math" panose="02040503050406030204" pitchFamily="18" charset="0"/>
                                      </a:rPr>
                                      <m:t>_</m:t>
                                    </m:r>
                                    <m:r>
                                      <a:rPr lang="en-CA" sz="1600" b="1" i="1" smtClean="0">
                                        <a:latin typeface="Cambria Math" panose="02040503050406030204" pitchFamily="18" charset="0"/>
                                      </a:rPr>
                                      <m:t>𝒆𝒋𝒆𝒄</m:t>
                                    </m:r>
                                  </m:sub>
                                </m:sSub>
                              </m:oMath>
                            </m:oMathPara>
                          </a14:m>
                          <a:endParaRPr lang="en-US" sz="1600" dirty="0"/>
                        </a:p>
                        <a:p>
                          <a:endParaRPr lang="en-US" sz="1600"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sz="1600" i="1" smtClean="0">
                                        <a:latin typeface="Cambria Math" panose="02040503050406030204" pitchFamily="18" charset="0"/>
                                      </a:rPr>
                                    </m:ctrlPr>
                                  </m:sSubPr>
                                  <m:e>
                                    <m:r>
                                      <a:rPr lang="en-US" sz="1600" i="1" smtClean="0">
                                        <a:latin typeface="Cambria Math" panose="02040503050406030204" pitchFamily="18" charset="0"/>
                                        <a:ea typeface="Cambria Math" panose="02040503050406030204" pitchFamily="18" charset="0"/>
                                      </a:rPr>
                                      <m:t>𝜽</m:t>
                                    </m:r>
                                  </m:e>
                                  <m:sub>
                                    <m:r>
                                      <a:rPr lang="en-CA" sz="1600" b="1" i="1" smtClean="0">
                                        <a:latin typeface="Cambria Math" panose="02040503050406030204" pitchFamily="18" charset="0"/>
                                        <a:ea typeface="Cambria Math" panose="02040503050406030204" pitchFamily="18" charset="0"/>
                                      </a:rPr>
                                      <m:t>𝒄𝒎</m:t>
                                    </m:r>
                                    <m:r>
                                      <a:rPr lang="en-CA" sz="1600" b="1" i="1" smtClean="0">
                                        <a:latin typeface="Cambria Math" panose="02040503050406030204" pitchFamily="18" charset="0"/>
                                      </a:rPr>
                                      <m:t>_</m:t>
                                    </m:r>
                                    <m:r>
                                      <a:rPr lang="en-CA" sz="1600" b="1" i="1" smtClean="0">
                                        <a:latin typeface="Cambria Math" panose="02040503050406030204" pitchFamily="18" charset="0"/>
                                      </a:rPr>
                                      <m:t>𝒆𝒋𝒆𝒄</m:t>
                                    </m:r>
                                  </m:sub>
                                </m:sSub>
                              </m:oMath>
                            </m:oMathPara>
                          </a14:m>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1600" i="1" smtClean="0">
                                        <a:latin typeface="Cambria Math" panose="02040503050406030204" pitchFamily="18" charset="0"/>
                                      </a:rPr>
                                    </m:ctrlPr>
                                  </m:sSubPr>
                                  <m:e>
                                    <m:r>
                                      <a:rPr lang="en-CA" sz="1600" b="1" i="1" smtClean="0">
                                        <a:latin typeface="Cambria Math" panose="02040503050406030204" pitchFamily="18" charset="0"/>
                                      </a:rPr>
                                      <m:t>𝑬</m:t>
                                    </m:r>
                                  </m:e>
                                  <m:sub>
                                    <m:r>
                                      <a:rPr lang="en-CA" sz="1600" b="1" i="1" smtClean="0">
                                        <a:latin typeface="Cambria Math" panose="02040503050406030204" pitchFamily="18" charset="0"/>
                                      </a:rPr>
                                      <m:t>𝒃𝒆𝒂𝒎</m:t>
                                    </m:r>
                                  </m:sub>
                                </m:sSub>
                              </m:oMath>
                            </m:oMathPara>
                          </a14:m>
                          <a:endParaRPr lang="en-US" sz="1600" dirty="0"/>
                        </a:p>
                      </a:txBody>
                      <a:tcPr/>
                    </a:tc>
                    <a:extLst>
                      <a:ext uri="{0D108BD9-81ED-4DB2-BD59-A6C34878D82A}">
                        <a16:rowId xmlns:a16="http://schemas.microsoft.com/office/drawing/2014/main" val="2945936354"/>
                      </a:ext>
                    </a:extLst>
                  </a:tr>
                </a:tbl>
              </a:graphicData>
            </a:graphic>
          </p:graphicFrame>
        </mc:Choice>
        <mc:Fallback xmlns="">
          <p:graphicFrame>
            <p:nvGraphicFramePr>
              <p:cNvPr id="5" name="Table 4">
                <a:extLst>
                  <a:ext uri="{FF2B5EF4-FFF2-40B4-BE49-F238E27FC236}">
                    <a16:creationId xmlns:a16="http://schemas.microsoft.com/office/drawing/2014/main" id="{96A05B06-B3E6-1ABA-3BFB-1B67445881DA}"/>
                  </a:ext>
                </a:extLst>
              </p:cNvPr>
              <p:cNvGraphicFramePr>
                <a:graphicFrameLocks noGrp="1"/>
              </p:cNvGraphicFramePr>
              <p:nvPr>
                <p:extLst>
                  <p:ext uri="{D42A27DB-BD31-4B8C-83A1-F6EECF244321}">
                    <p14:modId xmlns:p14="http://schemas.microsoft.com/office/powerpoint/2010/main" val="862973897"/>
                  </p:ext>
                </p:extLst>
              </p:nvPr>
            </p:nvGraphicFramePr>
            <p:xfrm>
              <a:off x="88900" y="3127914"/>
              <a:ext cx="11988800" cy="602171"/>
            </p:xfrm>
            <a:graphic>
              <a:graphicData uri="http://schemas.openxmlformats.org/drawingml/2006/table">
                <a:tbl>
                  <a:tblPr firstRow="1" bandRow="1">
                    <a:tableStyleId>{5C22544A-7EE6-4342-B048-85BDC9FD1C3A}</a:tableStyleId>
                  </a:tblPr>
                  <a:tblGrid>
                    <a:gridCol w="698500">
                      <a:extLst>
                        <a:ext uri="{9D8B030D-6E8A-4147-A177-3AD203B41FA5}">
                          <a16:colId xmlns:a16="http://schemas.microsoft.com/office/drawing/2014/main" val="2616550021"/>
                        </a:ext>
                      </a:extLst>
                    </a:gridCol>
                    <a:gridCol w="723900">
                      <a:extLst>
                        <a:ext uri="{9D8B030D-6E8A-4147-A177-3AD203B41FA5}">
                          <a16:colId xmlns:a16="http://schemas.microsoft.com/office/drawing/2014/main" val="1827938480"/>
                        </a:ext>
                      </a:extLst>
                    </a:gridCol>
                    <a:gridCol w="990600">
                      <a:extLst>
                        <a:ext uri="{9D8B030D-6E8A-4147-A177-3AD203B41FA5}">
                          <a16:colId xmlns:a16="http://schemas.microsoft.com/office/drawing/2014/main" val="3023801894"/>
                        </a:ext>
                      </a:extLst>
                    </a:gridCol>
                    <a:gridCol w="965200">
                      <a:extLst>
                        <a:ext uri="{9D8B030D-6E8A-4147-A177-3AD203B41FA5}">
                          <a16:colId xmlns:a16="http://schemas.microsoft.com/office/drawing/2014/main" val="9232552"/>
                        </a:ext>
                      </a:extLst>
                    </a:gridCol>
                    <a:gridCol w="1016000">
                      <a:extLst>
                        <a:ext uri="{9D8B030D-6E8A-4147-A177-3AD203B41FA5}">
                          <a16:colId xmlns:a16="http://schemas.microsoft.com/office/drawing/2014/main" val="808390179"/>
                        </a:ext>
                      </a:extLst>
                    </a:gridCol>
                    <a:gridCol w="1117600">
                      <a:extLst>
                        <a:ext uri="{9D8B030D-6E8A-4147-A177-3AD203B41FA5}">
                          <a16:colId xmlns:a16="http://schemas.microsoft.com/office/drawing/2014/main" val="2407729175"/>
                        </a:ext>
                      </a:extLst>
                    </a:gridCol>
                    <a:gridCol w="825500">
                      <a:extLst>
                        <a:ext uri="{9D8B030D-6E8A-4147-A177-3AD203B41FA5}">
                          <a16:colId xmlns:a16="http://schemas.microsoft.com/office/drawing/2014/main" val="3090629922"/>
                        </a:ext>
                      </a:extLst>
                    </a:gridCol>
                    <a:gridCol w="825500">
                      <a:extLst>
                        <a:ext uri="{9D8B030D-6E8A-4147-A177-3AD203B41FA5}">
                          <a16:colId xmlns:a16="http://schemas.microsoft.com/office/drawing/2014/main" val="2252727307"/>
                        </a:ext>
                      </a:extLst>
                    </a:gridCol>
                    <a:gridCol w="1079500">
                      <a:extLst>
                        <a:ext uri="{9D8B030D-6E8A-4147-A177-3AD203B41FA5}">
                          <a16:colId xmlns:a16="http://schemas.microsoft.com/office/drawing/2014/main" val="1009258725"/>
                        </a:ext>
                      </a:extLst>
                    </a:gridCol>
                    <a:gridCol w="990600">
                      <a:extLst>
                        <a:ext uri="{9D8B030D-6E8A-4147-A177-3AD203B41FA5}">
                          <a16:colId xmlns:a16="http://schemas.microsoft.com/office/drawing/2014/main" val="1904669622"/>
                        </a:ext>
                      </a:extLst>
                    </a:gridCol>
                    <a:gridCol w="1079500">
                      <a:extLst>
                        <a:ext uri="{9D8B030D-6E8A-4147-A177-3AD203B41FA5}">
                          <a16:colId xmlns:a16="http://schemas.microsoft.com/office/drawing/2014/main" val="4267762990"/>
                        </a:ext>
                      </a:extLst>
                    </a:gridCol>
                    <a:gridCol w="952500">
                      <a:extLst>
                        <a:ext uri="{9D8B030D-6E8A-4147-A177-3AD203B41FA5}">
                          <a16:colId xmlns:a16="http://schemas.microsoft.com/office/drawing/2014/main" val="1611272403"/>
                        </a:ext>
                      </a:extLst>
                    </a:gridCol>
                    <a:gridCol w="723900">
                      <a:extLst>
                        <a:ext uri="{9D8B030D-6E8A-4147-A177-3AD203B41FA5}">
                          <a16:colId xmlns:a16="http://schemas.microsoft.com/office/drawing/2014/main" val="1598269237"/>
                        </a:ext>
                      </a:extLst>
                    </a:gridCol>
                  </a:tblGrid>
                  <a:tr h="602171">
                    <a:tc>
                      <a:txBody>
                        <a:bodyPr/>
                        <a:lstStyle/>
                        <a:p>
                          <a:endParaRPr lang="en-US"/>
                        </a:p>
                      </a:txBody>
                      <a:tcPr>
                        <a:blipFill>
                          <a:blip r:embed="rId2"/>
                          <a:stretch>
                            <a:fillRect l="-1818" t="-2083" r="-1621818" b="-6250"/>
                          </a:stretch>
                        </a:blipFill>
                      </a:tcPr>
                    </a:tc>
                    <a:tc>
                      <a:txBody>
                        <a:bodyPr/>
                        <a:lstStyle/>
                        <a:p>
                          <a:endParaRPr lang="en-US"/>
                        </a:p>
                      </a:txBody>
                      <a:tcPr>
                        <a:blipFill>
                          <a:blip r:embed="rId2"/>
                          <a:stretch>
                            <a:fillRect l="-98246" t="-2083" r="-1464912" b="-6250"/>
                          </a:stretch>
                        </a:blipFill>
                      </a:tcPr>
                    </a:tc>
                    <a:tc>
                      <a:txBody>
                        <a:bodyPr/>
                        <a:lstStyle/>
                        <a:p>
                          <a:endParaRPr lang="en-US"/>
                        </a:p>
                      </a:txBody>
                      <a:tcPr>
                        <a:blipFill>
                          <a:blip r:embed="rId2"/>
                          <a:stretch>
                            <a:fillRect l="-144872" t="-2083" r="-970513" b="-6250"/>
                          </a:stretch>
                        </a:blipFill>
                      </a:tcPr>
                    </a:tc>
                    <a:tc>
                      <a:txBody>
                        <a:bodyPr/>
                        <a:lstStyle/>
                        <a:p>
                          <a:endParaRPr lang="en-US"/>
                        </a:p>
                      </a:txBody>
                      <a:tcPr>
                        <a:blipFill>
                          <a:blip r:embed="rId2"/>
                          <a:stretch>
                            <a:fillRect l="-251316" t="-2083" r="-896053" b="-6250"/>
                          </a:stretch>
                        </a:blipFill>
                      </a:tcPr>
                    </a:tc>
                    <a:tc>
                      <a:txBody>
                        <a:bodyPr/>
                        <a:lstStyle/>
                        <a:p>
                          <a:endParaRPr lang="en-US"/>
                        </a:p>
                      </a:txBody>
                      <a:tcPr>
                        <a:blipFill>
                          <a:blip r:embed="rId2"/>
                          <a:stretch>
                            <a:fillRect l="-333750" t="-2083" r="-751250" b="-6250"/>
                          </a:stretch>
                        </a:blipFill>
                      </a:tcPr>
                    </a:tc>
                    <a:tc>
                      <a:txBody>
                        <a:bodyPr/>
                        <a:lstStyle/>
                        <a:p>
                          <a:endParaRPr lang="en-US"/>
                        </a:p>
                      </a:txBody>
                      <a:tcPr>
                        <a:blipFill>
                          <a:blip r:embed="rId2"/>
                          <a:stretch>
                            <a:fillRect l="-394318" t="-2083" r="-582955" b="-6250"/>
                          </a:stretch>
                        </a:blipFill>
                      </a:tcPr>
                    </a:tc>
                    <a:tc>
                      <a:txBody>
                        <a:bodyPr/>
                        <a:lstStyle/>
                        <a:p>
                          <a:endParaRPr lang="en-US"/>
                        </a:p>
                      </a:txBody>
                      <a:tcPr>
                        <a:blipFill>
                          <a:blip r:embed="rId2"/>
                          <a:stretch>
                            <a:fillRect l="-669231" t="-2083" r="-689231" b="-6250"/>
                          </a:stretch>
                        </a:blipFill>
                      </a:tcPr>
                    </a:tc>
                    <a:tc>
                      <a:txBody>
                        <a:bodyPr/>
                        <a:lstStyle/>
                        <a:p>
                          <a:endParaRPr lang="en-US"/>
                        </a:p>
                      </a:txBody>
                      <a:tcPr>
                        <a:blipFill>
                          <a:blip r:embed="rId2"/>
                          <a:stretch>
                            <a:fillRect l="-769231" t="-2083" r="-589231" b="-6250"/>
                          </a:stretch>
                        </a:blipFill>
                      </a:tcPr>
                    </a:tc>
                    <a:tc>
                      <a:txBody>
                        <a:bodyPr/>
                        <a:lstStyle/>
                        <a:p>
                          <a:endParaRPr lang="en-US"/>
                        </a:p>
                      </a:txBody>
                      <a:tcPr>
                        <a:blipFill>
                          <a:blip r:embed="rId2"/>
                          <a:stretch>
                            <a:fillRect l="-664706" t="-2083" r="-350588" b="-6250"/>
                          </a:stretch>
                        </a:blipFill>
                      </a:tcPr>
                    </a:tc>
                    <a:tc>
                      <a:txBody>
                        <a:bodyPr/>
                        <a:lstStyle/>
                        <a:p>
                          <a:endParaRPr lang="en-US"/>
                        </a:p>
                      </a:txBody>
                      <a:tcPr>
                        <a:blipFill>
                          <a:blip r:embed="rId2"/>
                          <a:stretch>
                            <a:fillRect l="-833333" t="-2083" r="-282051" b="-6250"/>
                          </a:stretch>
                        </a:blipFill>
                      </a:tcPr>
                    </a:tc>
                    <a:tc>
                      <a:txBody>
                        <a:bodyPr/>
                        <a:lstStyle/>
                        <a:p>
                          <a:endParaRPr lang="en-US"/>
                        </a:p>
                      </a:txBody>
                      <a:tcPr>
                        <a:blipFill>
                          <a:blip r:embed="rId2"/>
                          <a:stretch>
                            <a:fillRect l="-856471" t="-2083" r="-158824" b="-6250"/>
                          </a:stretch>
                        </a:blipFill>
                      </a:tcPr>
                    </a:tc>
                    <a:tc>
                      <a:txBody>
                        <a:bodyPr/>
                        <a:lstStyle/>
                        <a:p>
                          <a:endParaRPr lang="en-US"/>
                        </a:p>
                      </a:txBody>
                      <a:tcPr>
                        <a:blipFill>
                          <a:blip r:embed="rId2"/>
                          <a:stretch>
                            <a:fillRect l="-1084000" t="-2083" r="-80000" b="-6250"/>
                          </a:stretch>
                        </a:blipFill>
                      </a:tcPr>
                    </a:tc>
                    <a:tc>
                      <a:txBody>
                        <a:bodyPr/>
                        <a:lstStyle/>
                        <a:p>
                          <a:endParaRPr lang="en-US"/>
                        </a:p>
                      </a:txBody>
                      <a:tcPr>
                        <a:blipFill>
                          <a:blip r:embed="rId2"/>
                          <a:stretch>
                            <a:fillRect l="-1557895" t="-2083" r="-5263" b="-6250"/>
                          </a:stretch>
                        </a:blipFill>
                      </a:tcPr>
                    </a:tc>
                    <a:extLst>
                      <a:ext uri="{0D108BD9-81ED-4DB2-BD59-A6C34878D82A}">
                        <a16:rowId xmlns:a16="http://schemas.microsoft.com/office/drawing/2014/main" val="2945936354"/>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4B784637-477F-DE00-719A-4DEB74518552}"/>
                  </a:ext>
                </a:extLst>
              </p:cNvPr>
              <p:cNvGraphicFramePr>
                <a:graphicFrameLocks noGrp="1"/>
              </p:cNvGraphicFramePr>
              <p:nvPr>
                <p:extLst>
                  <p:ext uri="{D42A27DB-BD31-4B8C-83A1-F6EECF244321}">
                    <p14:modId xmlns:p14="http://schemas.microsoft.com/office/powerpoint/2010/main" val="428710593"/>
                  </p:ext>
                </p:extLst>
              </p:nvPr>
            </p:nvGraphicFramePr>
            <p:xfrm>
              <a:off x="1790698" y="4482993"/>
              <a:ext cx="8127999" cy="663639"/>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1363598779"/>
                        </a:ext>
                      </a:extLst>
                    </a:gridCol>
                    <a:gridCol w="2709333">
                      <a:extLst>
                        <a:ext uri="{9D8B030D-6E8A-4147-A177-3AD203B41FA5}">
                          <a16:colId xmlns:a16="http://schemas.microsoft.com/office/drawing/2014/main" val="3794843967"/>
                        </a:ext>
                      </a:extLst>
                    </a:gridCol>
                    <a:gridCol w="2709333">
                      <a:extLst>
                        <a:ext uri="{9D8B030D-6E8A-4147-A177-3AD203B41FA5}">
                          <a16:colId xmlns:a16="http://schemas.microsoft.com/office/drawing/2014/main" val="1466742637"/>
                        </a:ext>
                      </a:extLst>
                    </a:gridCol>
                  </a:tblGrid>
                  <a:tr h="44380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CA" sz="1800" b="1" i="1" smtClean="0">
                                        <a:latin typeface="Cambria Math" panose="02040503050406030204" pitchFamily="18" charset="0"/>
                                      </a:rPr>
                                      <m:t>𝑬</m:t>
                                    </m:r>
                                  </m:e>
                                  <m:sub>
                                    <m:r>
                                      <a:rPr lang="en-CA" sz="1800" b="1" i="1" smtClean="0">
                                        <a:latin typeface="Cambria Math" panose="02040503050406030204" pitchFamily="18" charset="0"/>
                                      </a:rPr>
                                      <m:t>𝒍𝒂</m:t>
                                    </m:r>
                                    <m:sSub>
                                      <m:sSubPr>
                                        <m:ctrlPr>
                                          <a:rPr lang="en-CA" sz="1800" b="1" i="1" smtClean="0">
                                            <a:latin typeface="Cambria Math" panose="02040503050406030204" pitchFamily="18" charset="0"/>
                                          </a:rPr>
                                        </m:ctrlPr>
                                      </m:sSubPr>
                                      <m:e>
                                        <m:r>
                                          <a:rPr lang="en-CA" sz="1800" b="1" i="1" smtClean="0">
                                            <a:latin typeface="Cambria Math" panose="02040503050406030204" pitchFamily="18" charset="0"/>
                                          </a:rPr>
                                          <m:t>𝒃</m:t>
                                        </m:r>
                                      </m:e>
                                      <m:sub>
                                        <m:r>
                                          <a:rPr lang="en-CA" sz="1800" b="1" i="1" smtClean="0">
                                            <a:latin typeface="Cambria Math" panose="02040503050406030204" pitchFamily="18" charset="0"/>
                                          </a:rPr>
                                          <m:t>_</m:t>
                                        </m:r>
                                      </m:sub>
                                    </m:sSub>
                                    <m:r>
                                      <a:rPr lang="en-CA" sz="1800" b="1" i="1" smtClean="0">
                                        <a:latin typeface="Cambria Math" panose="02040503050406030204" pitchFamily="18" charset="0"/>
                                      </a:rPr>
                                      <m:t>𝒓𝒆𝒄</m:t>
                                    </m:r>
                                  </m:sub>
                                </m:sSub>
                              </m:oMath>
                            </m:oMathPara>
                          </a14:m>
                          <a:endParaRPr lang="en-US" sz="1800" dirty="0"/>
                        </a:p>
                        <a:p>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𝝑</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𝝋</m:t>
                                </m:r>
                              </m:oMath>
                            </m:oMathPara>
                          </a14:m>
                          <a:endParaRPr lang="en-US" dirty="0"/>
                        </a:p>
                      </a:txBody>
                      <a:tcPr/>
                    </a:tc>
                    <a:extLst>
                      <a:ext uri="{0D108BD9-81ED-4DB2-BD59-A6C34878D82A}">
                        <a16:rowId xmlns:a16="http://schemas.microsoft.com/office/drawing/2014/main" val="3497746283"/>
                      </a:ext>
                    </a:extLst>
                  </a:tr>
                </a:tbl>
              </a:graphicData>
            </a:graphic>
          </p:graphicFrame>
        </mc:Choice>
        <mc:Fallback xmlns="">
          <p:graphicFrame>
            <p:nvGraphicFramePr>
              <p:cNvPr id="6" name="Table 5">
                <a:extLst>
                  <a:ext uri="{FF2B5EF4-FFF2-40B4-BE49-F238E27FC236}">
                    <a16:creationId xmlns:a16="http://schemas.microsoft.com/office/drawing/2014/main" id="{4B784637-477F-DE00-719A-4DEB74518552}"/>
                  </a:ext>
                </a:extLst>
              </p:cNvPr>
              <p:cNvGraphicFramePr>
                <a:graphicFrameLocks noGrp="1"/>
              </p:cNvGraphicFramePr>
              <p:nvPr>
                <p:extLst>
                  <p:ext uri="{D42A27DB-BD31-4B8C-83A1-F6EECF244321}">
                    <p14:modId xmlns:p14="http://schemas.microsoft.com/office/powerpoint/2010/main" val="428710593"/>
                  </p:ext>
                </p:extLst>
              </p:nvPr>
            </p:nvGraphicFramePr>
            <p:xfrm>
              <a:off x="1790698" y="4482993"/>
              <a:ext cx="8127999" cy="663639"/>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1363598779"/>
                        </a:ext>
                      </a:extLst>
                    </a:gridCol>
                    <a:gridCol w="2709333">
                      <a:extLst>
                        <a:ext uri="{9D8B030D-6E8A-4147-A177-3AD203B41FA5}">
                          <a16:colId xmlns:a16="http://schemas.microsoft.com/office/drawing/2014/main" val="3794843967"/>
                        </a:ext>
                      </a:extLst>
                    </a:gridCol>
                    <a:gridCol w="2709333">
                      <a:extLst>
                        <a:ext uri="{9D8B030D-6E8A-4147-A177-3AD203B41FA5}">
                          <a16:colId xmlns:a16="http://schemas.microsoft.com/office/drawing/2014/main" val="1466742637"/>
                        </a:ext>
                      </a:extLst>
                    </a:gridCol>
                  </a:tblGrid>
                  <a:tr h="663639">
                    <a:tc>
                      <a:txBody>
                        <a:bodyPr/>
                        <a:lstStyle/>
                        <a:p>
                          <a:endParaRPr lang="en-US"/>
                        </a:p>
                      </a:txBody>
                      <a:tcPr>
                        <a:blipFill>
                          <a:blip r:embed="rId3"/>
                          <a:stretch>
                            <a:fillRect r="-200935" b="-3704"/>
                          </a:stretch>
                        </a:blipFill>
                      </a:tcPr>
                    </a:tc>
                    <a:tc>
                      <a:txBody>
                        <a:bodyPr/>
                        <a:lstStyle/>
                        <a:p>
                          <a:endParaRPr lang="en-US"/>
                        </a:p>
                      </a:txBody>
                      <a:tcPr>
                        <a:blipFill>
                          <a:blip r:embed="rId3"/>
                          <a:stretch>
                            <a:fillRect l="-100469" r="-101878" b="-3704"/>
                          </a:stretch>
                        </a:blipFill>
                      </a:tcPr>
                    </a:tc>
                    <a:tc>
                      <a:txBody>
                        <a:bodyPr/>
                        <a:lstStyle/>
                        <a:p>
                          <a:endParaRPr lang="en-US"/>
                        </a:p>
                      </a:txBody>
                      <a:tcPr>
                        <a:blipFill>
                          <a:blip r:embed="rId3"/>
                          <a:stretch>
                            <a:fillRect l="-199533" r="-1402" b="-3704"/>
                          </a:stretch>
                        </a:blipFill>
                      </a:tcPr>
                    </a:tc>
                    <a:extLst>
                      <a:ext uri="{0D108BD9-81ED-4DB2-BD59-A6C34878D82A}">
                        <a16:rowId xmlns:a16="http://schemas.microsoft.com/office/drawing/2014/main" val="3497746283"/>
                      </a:ext>
                    </a:extLst>
                  </a:tr>
                </a:tbl>
              </a:graphicData>
            </a:graphic>
          </p:graphicFrame>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84897AF-E040-896B-EAA0-7399D7F29247}"/>
                  </a:ext>
                </a:extLst>
              </p:cNvPr>
              <p:cNvSpPr txBox="1"/>
              <p:nvPr/>
            </p:nvSpPr>
            <p:spPr>
              <a:xfrm>
                <a:off x="4768876" y="3921873"/>
                <a:ext cx="3511524" cy="369332"/>
              </a:xfrm>
              <a:prstGeom prst="rect">
                <a:avLst/>
              </a:prstGeom>
              <a:noFill/>
            </p:spPr>
            <p:txBody>
              <a:bodyPr wrap="square" rtlCol="0">
                <a:spAutoFit/>
              </a:bodyPr>
              <a:lstStyle/>
              <a:p>
                <a:r>
                  <a:rPr lang="en-US" dirty="0"/>
                  <a:t>Spectrometer angles </a:t>
                </a:r>
                <a14:m>
                  <m:oMath xmlns:m="http://schemas.openxmlformats.org/officeDocument/2006/math">
                    <m:r>
                      <a:rPr lang="en-US" i="1" smtClean="0">
                        <a:latin typeface="Cambria Math" panose="02040503050406030204" pitchFamily="18" charset="0"/>
                        <a:ea typeface="Cambria Math" panose="02040503050406030204" pitchFamily="18" charset="0"/>
                      </a:rPr>
                      <m:t>𝝑</m:t>
                    </m:r>
                    <m:r>
                      <a:rPr lang="en-CA" b="0" i="0" smtClean="0">
                        <a:latin typeface="Cambria Math" panose="02040503050406030204" pitchFamily="18" charset="0"/>
                        <a:ea typeface="Cambria Math" panose="02040503050406030204" pitchFamily="18" charset="0"/>
                      </a:rPr>
                      <m:t>,</m:t>
                    </m:r>
                    <m:r>
                      <a:rPr lang="en-US" i="1" smtClean="0">
                        <a:latin typeface="Cambria Math" panose="02040503050406030204" pitchFamily="18" charset="0"/>
                        <a:ea typeface="Cambria Math" panose="02040503050406030204" pitchFamily="18" charset="0"/>
                      </a:rPr>
                      <m:t>𝝋</m:t>
                    </m:r>
                  </m:oMath>
                </a14:m>
                <a:r>
                  <a:rPr lang="en-US" dirty="0"/>
                  <a:t>: </a:t>
                </a:r>
              </a:p>
            </p:txBody>
          </p:sp>
        </mc:Choice>
        <mc:Fallback xmlns="">
          <p:sp>
            <p:nvSpPr>
              <p:cNvPr id="7" name="TextBox 6">
                <a:extLst>
                  <a:ext uri="{FF2B5EF4-FFF2-40B4-BE49-F238E27FC236}">
                    <a16:creationId xmlns:a16="http://schemas.microsoft.com/office/drawing/2014/main" id="{684897AF-E040-896B-EAA0-7399D7F29247}"/>
                  </a:ext>
                </a:extLst>
              </p:cNvPr>
              <p:cNvSpPr txBox="1">
                <a:spLocks noRot="1" noChangeAspect="1" noMove="1" noResize="1" noEditPoints="1" noAdjustHandles="1" noChangeArrowheads="1" noChangeShapeType="1" noTextEdit="1"/>
              </p:cNvSpPr>
              <p:nvPr/>
            </p:nvSpPr>
            <p:spPr>
              <a:xfrm>
                <a:off x="4768876" y="3921873"/>
                <a:ext cx="3511524" cy="369332"/>
              </a:xfrm>
              <a:prstGeom prst="rect">
                <a:avLst/>
              </a:prstGeom>
              <a:blipFill>
                <a:blip r:embed="rId4"/>
                <a:stretch>
                  <a:fillRect l="-1444" t="-6667"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F54BA3F8-BCBE-935E-339A-E791D5512850}"/>
                  </a:ext>
                </a:extLst>
              </p:cNvPr>
              <p:cNvSpPr txBox="1"/>
              <p:nvPr/>
            </p:nvSpPr>
            <p:spPr>
              <a:xfrm>
                <a:off x="860422" y="5484041"/>
                <a:ext cx="6178550" cy="83099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ea typeface="Cambria Math" panose="02040503050406030204" pitchFamily="18" charset="0"/>
                        </a:rPr>
                        <m:t>𝝑</m:t>
                      </m:r>
                      <m:r>
                        <a:rPr lang="en-CA" sz="2400" b="0" i="1" smtClean="0">
                          <a:latin typeface="Cambria Math" panose="02040503050406030204" pitchFamily="18" charset="0"/>
                          <a:ea typeface="Cambria Math" panose="02040503050406030204" pitchFamily="18" charset="0"/>
                        </a:rPr>
                        <m:t>=</m:t>
                      </m:r>
                      <m:func>
                        <m:funcPr>
                          <m:ctrlPr>
                            <a:rPr lang="en-CA" sz="2400" b="0" i="1" smtClean="0">
                              <a:latin typeface="Cambria Math" panose="02040503050406030204" pitchFamily="18" charset="0"/>
                              <a:ea typeface="Cambria Math" panose="02040503050406030204" pitchFamily="18" charset="0"/>
                            </a:rPr>
                          </m:ctrlPr>
                        </m:funcPr>
                        <m:fName>
                          <m:r>
                            <m:rPr>
                              <m:sty m:val="p"/>
                            </m:rPr>
                            <a:rPr lang="en-CA" sz="2400" b="0" i="0" smtClean="0">
                              <a:latin typeface="Cambria Math" panose="02040503050406030204" pitchFamily="18" charset="0"/>
                              <a:ea typeface="Cambria Math" panose="02040503050406030204" pitchFamily="18" charset="0"/>
                            </a:rPr>
                            <m:t>arctan</m:t>
                          </m:r>
                        </m:fName>
                        <m:e>
                          <m:r>
                            <a:rPr lang="en-CA" sz="2400" b="0" i="1" smtClean="0">
                              <a:latin typeface="Cambria Math" panose="02040503050406030204" pitchFamily="18" charset="0"/>
                              <a:ea typeface="Cambria Math" panose="02040503050406030204" pitchFamily="18" charset="0"/>
                            </a:rPr>
                            <m:t>(</m:t>
                          </m:r>
                          <m:func>
                            <m:funcPr>
                              <m:ctrlPr>
                                <a:rPr lang="en-CA" sz="2400" b="0" i="1" smtClean="0">
                                  <a:latin typeface="Cambria Math" panose="02040503050406030204" pitchFamily="18" charset="0"/>
                                  <a:ea typeface="Cambria Math" panose="02040503050406030204" pitchFamily="18" charset="0"/>
                                </a:rPr>
                              </m:ctrlPr>
                            </m:funcPr>
                            <m:fName>
                              <m:r>
                                <m:rPr>
                                  <m:sty m:val="p"/>
                                </m:rPr>
                                <a:rPr lang="en-CA" sz="2400" b="0" i="0" smtClean="0">
                                  <a:latin typeface="Cambria Math" panose="02040503050406030204" pitchFamily="18" charset="0"/>
                                  <a:ea typeface="Cambria Math" panose="02040503050406030204" pitchFamily="18" charset="0"/>
                                </a:rPr>
                                <m:t>tan</m:t>
                              </m:r>
                            </m:fName>
                            <m:e>
                              <m:r>
                                <m:rPr>
                                  <m:sty m:val="p"/>
                                </m:rPr>
                                <a:rPr lang="el-GR" sz="2400" b="0" i="1" smtClean="0">
                                  <a:latin typeface="Cambria Math" panose="02040503050406030204" pitchFamily="18" charset="0"/>
                                  <a:ea typeface="Cambria Math" panose="02040503050406030204" pitchFamily="18" charset="0"/>
                                </a:rPr>
                                <m:t>Θ</m:t>
                              </m:r>
                            </m:e>
                          </m:func>
                          <m:func>
                            <m:funcPr>
                              <m:ctrlPr>
                                <a:rPr lang="en-CA" sz="2400" b="0" i="1" smtClean="0">
                                  <a:latin typeface="Cambria Math" panose="02040503050406030204" pitchFamily="18" charset="0"/>
                                  <a:ea typeface="Cambria Math" panose="02040503050406030204" pitchFamily="18" charset="0"/>
                                </a:rPr>
                              </m:ctrlPr>
                            </m:funcPr>
                            <m:fName>
                              <m:r>
                                <m:rPr>
                                  <m:sty m:val="p"/>
                                </m:rPr>
                                <a:rPr lang="en-CA" sz="2400" b="0" i="0" smtClean="0">
                                  <a:latin typeface="Cambria Math" panose="02040503050406030204" pitchFamily="18" charset="0"/>
                                  <a:ea typeface="Cambria Math" panose="02040503050406030204" pitchFamily="18" charset="0"/>
                                </a:rPr>
                                <m:t>cos</m:t>
                              </m:r>
                            </m:fName>
                            <m:e>
                              <m:r>
                                <m:rPr>
                                  <m:sty m:val="p"/>
                                </m:rPr>
                                <a:rPr lang="el-GR" sz="2400" b="0" i="1" smtClean="0">
                                  <a:latin typeface="Cambria Math" panose="02040503050406030204" pitchFamily="18" charset="0"/>
                                  <a:ea typeface="Cambria Math" panose="02040503050406030204" pitchFamily="18" charset="0"/>
                                </a:rPr>
                                <m:t>Φ</m:t>
                              </m:r>
                            </m:e>
                          </m:func>
                          <m:r>
                            <a:rPr lang="en-CA" sz="2400" b="0" i="1" smtClean="0">
                              <a:latin typeface="Cambria Math" panose="02040503050406030204" pitchFamily="18" charset="0"/>
                              <a:ea typeface="Cambria Math" panose="02040503050406030204" pitchFamily="18" charset="0"/>
                            </a:rPr>
                            <m:t>)</m:t>
                          </m:r>
                        </m:e>
                      </m:func>
                    </m:oMath>
                  </m:oMathPara>
                </a14:m>
                <a:endParaRPr lang="en-US" sz="2400" dirty="0"/>
              </a:p>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ea typeface="Cambria Math" panose="02040503050406030204" pitchFamily="18" charset="0"/>
                        </a:rPr>
                        <m:t>𝝋</m:t>
                      </m:r>
                      <m:r>
                        <a:rPr lang="en-CA" sz="2400" b="0" i="1" smtClean="0">
                          <a:latin typeface="Cambria Math" panose="02040503050406030204" pitchFamily="18" charset="0"/>
                          <a:ea typeface="Cambria Math" panose="02040503050406030204" pitchFamily="18" charset="0"/>
                        </a:rPr>
                        <m:t>=</m:t>
                      </m:r>
                      <m:func>
                        <m:funcPr>
                          <m:ctrlPr>
                            <a:rPr lang="en-CA" sz="2400" b="0" i="1" smtClean="0">
                              <a:latin typeface="Cambria Math" panose="02040503050406030204" pitchFamily="18" charset="0"/>
                              <a:ea typeface="Cambria Math" panose="02040503050406030204" pitchFamily="18" charset="0"/>
                            </a:rPr>
                          </m:ctrlPr>
                        </m:funcPr>
                        <m:fName>
                          <m:r>
                            <m:rPr>
                              <m:sty m:val="p"/>
                            </m:rPr>
                            <a:rPr lang="en-CA" sz="2400" b="0" i="0" smtClean="0">
                              <a:latin typeface="Cambria Math" panose="02040503050406030204" pitchFamily="18" charset="0"/>
                              <a:ea typeface="Cambria Math" panose="02040503050406030204" pitchFamily="18" charset="0"/>
                            </a:rPr>
                            <m:t>arctan</m:t>
                          </m:r>
                        </m:fName>
                        <m:e>
                          <m:r>
                            <a:rPr lang="en-CA" sz="2400" b="0" i="1" smtClean="0">
                              <a:latin typeface="Cambria Math" panose="02040503050406030204" pitchFamily="18" charset="0"/>
                              <a:ea typeface="Cambria Math" panose="02040503050406030204" pitchFamily="18" charset="0"/>
                            </a:rPr>
                            <m:t>(</m:t>
                          </m:r>
                          <m:func>
                            <m:funcPr>
                              <m:ctrlPr>
                                <a:rPr lang="en-CA" sz="2400" b="0" i="1" smtClean="0">
                                  <a:latin typeface="Cambria Math" panose="02040503050406030204" pitchFamily="18" charset="0"/>
                                  <a:ea typeface="Cambria Math" panose="02040503050406030204" pitchFamily="18" charset="0"/>
                                </a:rPr>
                              </m:ctrlPr>
                            </m:funcPr>
                            <m:fName>
                              <m:r>
                                <m:rPr>
                                  <m:sty m:val="p"/>
                                </m:rPr>
                                <a:rPr lang="en-CA" sz="2400" b="0" i="0" smtClean="0">
                                  <a:latin typeface="Cambria Math" panose="02040503050406030204" pitchFamily="18" charset="0"/>
                                  <a:ea typeface="Cambria Math" panose="02040503050406030204" pitchFamily="18" charset="0"/>
                                </a:rPr>
                                <m:t>tan</m:t>
                              </m:r>
                            </m:fName>
                            <m:e>
                              <m:r>
                                <m:rPr>
                                  <m:sty m:val="p"/>
                                </m:rPr>
                                <a:rPr lang="el-GR" sz="2400" b="0" i="1" smtClean="0">
                                  <a:latin typeface="Cambria Math" panose="02040503050406030204" pitchFamily="18" charset="0"/>
                                  <a:ea typeface="Cambria Math" panose="02040503050406030204" pitchFamily="18" charset="0"/>
                                </a:rPr>
                                <m:t>Θ</m:t>
                              </m:r>
                            </m:e>
                          </m:func>
                          <m:func>
                            <m:funcPr>
                              <m:ctrlPr>
                                <a:rPr lang="en-CA" sz="2400" b="0" i="1" smtClean="0">
                                  <a:latin typeface="Cambria Math" panose="02040503050406030204" pitchFamily="18" charset="0"/>
                                  <a:ea typeface="Cambria Math" panose="02040503050406030204" pitchFamily="18" charset="0"/>
                                </a:rPr>
                              </m:ctrlPr>
                            </m:funcPr>
                            <m:fName>
                              <m:r>
                                <m:rPr>
                                  <m:sty m:val="p"/>
                                </m:rPr>
                                <a:rPr lang="en-CA" sz="2400" b="0" i="0" smtClean="0">
                                  <a:latin typeface="Cambria Math" panose="02040503050406030204" pitchFamily="18" charset="0"/>
                                  <a:ea typeface="Cambria Math" panose="02040503050406030204" pitchFamily="18" charset="0"/>
                                </a:rPr>
                                <m:t>sin</m:t>
                              </m:r>
                            </m:fName>
                            <m:e>
                              <m:r>
                                <m:rPr>
                                  <m:sty m:val="p"/>
                                </m:rPr>
                                <a:rPr lang="el-GR" sz="2400" b="0" i="1" smtClean="0">
                                  <a:latin typeface="Cambria Math" panose="02040503050406030204" pitchFamily="18" charset="0"/>
                                  <a:ea typeface="Cambria Math" panose="02040503050406030204" pitchFamily="18" charset="0"/>
                                </a:rPr>
                                <m:t>Φ</m:t>
                              </m:r>
                              <m:r>
                                <a:rPr lang="en-CA" sz="2400" b="0" i="1" smtClean="0">
                                  <a:latin typeface="Cambria Math" panose="02040503050406030204" pitchFamily="18" charset="0"/>
                                  <a:ea typeface="Cambria Math" panose="02040503050406030204" pitchFamily="18" charset="0"/>
                                </a:rPr>
                                <m:t>)</m:t>
                              </m:r>
                            </m:e>
                          </m:func>
                        </m:e>
                      </m:func>
                    </m:oMath>
                  </m:oMathPara>
                </a14:m>
                <a:endParaRPr lang="en-US" sz="2400" dirty="0"/>
              </a:p>
            </p:txBody>
          </p:sp>
        </mc:Choice>
        <mc:Fallback xmlns="">
          <p:sp>
            <p:nvSpPr>
              <p:cNvPr id="12" name="TextBox 11">
                <a:extLst>
                  <a:ext uri="{FF2B5EF4-FFF2-40B4-BE49-F238E27FC236}">
                    <a16:creationId xmlns:a16="http://schemas.microsoft.com/office/drawing/2014/main" id="{F54BA3F8-BCBE-935E-339A-E791D5512850}"/>
                  </a:ext>
                </a:extLst>
              </p:cNvPr>
              <p:cNvSpPr txBox="1">
                <a:spLocks noRot="1" noChangeAspect="1" noMove="1" noResize="1" noEditPoints="1" noAdjustHandles="1" noChangeArrowheads="1" noChangeShapeType="1" noTextEdit="1"/>
              </p:cNvSpPr>
              <p:nvPr/>
            </p:nvSpPr>
            <p:spPr>
              <a:xfrm>
                <a:off x="860422" y="5484041"/>
                <a:ext cx="6178550" cy="830997"/>
              </a:xfrm>
              <a:prstGeom prst="rect">
                <a:avLst/>
              </a:prstGeom>
              <a:blipFill>
                <a:blip r:embed="rId5"/>
                <a:stretch>
                  <a:fillRect b="-75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986D6FC5-3E50-2A6B-11C9-ED46B7F4BCE2}"/>
                  </a:ext>
                </a:extLst>
              </p:cNvPr>
              <p:cNvSpPr txBox="1"/>
              <p:nvPr/>
            </p:nvSpPr>
            <p:spPr>
              <a:xfrm>
                <a:off x="6616700" y="5521941"/>
                <a:ext cx="5162504" cy="523220"/>
              </a:xfrm>
              <a:prstGeom prst="rect">
                <a:avLst/>
              </a:prstGeom>
              <a:noFill/>
            </p:spPr>
            <p:txBody>
              <a:bodyPr wrap="none" rtlCol="0">
                <a:spAutoFit/>
              </a:bodyPr>
              <a:lstStyle/>
              <a:p>
                <a14:m>
                  <m:oMath xmlns:m="http://schemas.openxmlformats.org/officeDocument/2006/math">
                    <m:r>
                      <m:rPr>
                        <m:sty m:val="p"/>
                      </m:rPr>
                      <a:rPr lang="el-GR" sz="2800" i="1" smtClean="0">
                        <a:latin typeface="Cambria Math" panose="02040503050406030204" pitchFamily="18" charset="0"/>
                        <a:ea typeface="Cambria Math" panose="02040503050406030204" pitchFamily="18" charset="0"/>
                      </a:rPr>
                      <m:t>Φ</m:t>
                    </m:r>
                    <m:r>
                      <a:rPr lang="en-CA" sz="2800" b="0" i="1" smtClean="0">
                        <a:latin typeface="Cambria Math" panose="02040503050406030204" pitchFamily="18" charset="0"/>
                        <a:ea typeface="Cambria Math" panose="02040503050406030204" pitchFamily="18" charset="0"/>
                      </a:rPr>
                      <m:t>, </m:t>
                    </m:r>
                    <m:r>
                      <m:rPr>
                        <m:sty m:val="p"/>
                      </m:rPr>
                      <a:rPr lang="el-GR" sz="2800" i="1" smtClean="0">
                        <a:latin typeface="Cambria Math" panose="02040503050406030204" pitchFamily="18" charset="0"/>
                        <a:ea typeface="Cambria Math" panose="02040503050406030204" pitchFamily="18" charset="0"/>
                      </a:rPr>
                      <m:t>Θ</m:t>
                    </m:r>
                  </m:oMath>
                </a14:m>
                <a:r>
                  <a:rPr lang="en-US" sz="2800" dirty="0"/>
                  <a:t> are spherical coordinate angles</a:t>
                </a:r>
              </a:p>
            </p:txBody>
          </p:sp>
        </mc:Choice>
        <mc:Fallback xmlns="">
          <p:sp>
            <p:nvSpPr>
              <p:cNvPr id="13" name="TextBox 12">
                <a:extLst>
                  <a:ext uri="{FF2B5EF4-FFF2-40B4-BE49-F238E27FC236}">
                    <a16:creationId xmlns:a16="http://schemas.microsoft.com/office/drawing/2014/main" id="{986D6FC5-3E50-2A6B-11C9-ED46B7F4BCE2}"/>
                  </a:ext>
                </a:extLst>
              </p:cNvPr>
              <p:cNvSpPr txBox="1">
                <a:spLocks noRot="1" noChangeAspect="1" noMove="1" noResize="1" noEditPoints="1" noAdjustHandles="1" noChangeArrowheads="1" noChangeShapeType="1" noTextEdit="1"/>
              </p:cNvSpPr>
              <p:nvPr/>
            </p:nvSpPr>
            <p:spPr>
              <a:xfrm>
                <a:off x="6616700" y="5521941"/>
                <a:ext cx="5162504" cy="523220"/>
              </a:xfrm>
              <a:prstGeom prst="rect">
                <a:avLst/>
              </a:prstGeom>
              <a:blipFill>
                <a:blip r:embed="rId6"/>
                <a:stretch>
                  <a:fillRect l="-490" t="-11628" r="-1471" b="-30233"/>
                </a:stretch>
              </a:blipFill>
            </p:spPr>
            <p:txBody>
              <a:bodyPr/>
              <a:lstStyle/>
              <a:p>
                <a:r>
                  <a:rPr lang="en-US">
                    <a:noFill/>
                  </a:rPr>
                  <a:t> </a:t>
                </a:r>
              </a:p>
            </p:txBody>
          </p:sp>
        </mc:Fallback>
      </mc:AlternateContent>
    </p:spTree>
    <p:extLst>
      <p:ext uri="{BB962C8B-B14F-4D97-AF65-F5344CB8AC3E}">
        <p14:creationId xmlns:p14="http://schemas.microsoft.com/office/powerpoint/2010/main" val="6800603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0B7580-F587-2AF9-92B5-4DF9A31551FA}"/>
              </a:ext>
            </a:extLst>
          </p:cNvPr>
          <p:cNvSpPr>
            <a:spLocks noGrp="1"/>
          </p:cNvSpPr>
          <p:nvPr>
            <p:ph type="title"/>
          </p:nvPr>
        </p:nvSpPr>
        <p:spPr>
          <a:xfrm>
            <a:off x="349875" y="183064"/>
            <a:ext cx="10515600" cy="1325563"/>
          </a:xfrm>
        </p:spPr>
        <p:txBody>
          <a:bodyPr/>
          <a:lstStyle/>
          <a:p>
            <a:r>
              <a:rPr lang="en-US" b="1" dirty="0"/>
              <a:t>Tracking 3H</a:t>
            </a:r>
          </a:p>
        </p:txBody>
      </p:sp>
      <p:sp>
        <p:nvSpPr>
          <p:cNvPr id="4" name="TextBox 3">
            <a:extLst>
              <a:ext uri="{FF2B5EF4-FFF2-40B4-BE49-F238E27FC236}">
                <a16:creationId xmlns:a16="http://schemas.microsoft.com/office/drawing/2014/main" id="{BA122A4C-3985-7760-F1BA-88F62E81C178}"/>
              </a:ext>
            </a:extLst>
          </p:cNvPr>
          <p:cNvSpPr txBox="1"/>
          <p:nvPr/>
        </p:nvSpPr>
        <p:spPr>
          <a:xfrm>
            <a:off x="349875" y="1511300"/>
            <a:ext cx="5746125" cy="2862322"/>
          </a:xfrm>
          <a:prstGeom prst="rect">
            <a:avLst/>
          </a:prstGeom>
          <a:noFill/>
        </p:spPr>
        <p:txBody>
          <a:bodyPr wrap="none" rtlCol="0">
            <a:spAutoFit/>
          </a:bodyPr>
          <a:lstStyle/>
          <a:p>
            <a:r>
              <a:rPr lang="en-US" b="1" dirty="0"/>
              <a:t>Commit 486d8a65c3d3752f5cb7286635d43ecf3d0d6b29</a:t>
            </a:r>
          </a:p>
          <a:p>
            <a:r>
              <a:rPr lang="en-US" dirty="0" err="1"/>
              <a:t>Ouputs</a:t>
            </a:r>
            <a:r>
              <a:rPr lang="en-US" dirty="0"/>
              <a:t>: S3_triton_ring_observables.dat that contains energies</a:t>
            </a:r>
          </a:p>
          <a:p>
            <a:r>
              <a:rPr lang="en-US" dirty="0"/>
              <a:t>and angles of tritons at: </a:t>
            </a:r>
          </a:p>
          <a:p>
            <a:endParaRPr lang="en-US" dirty="0"/>
          </a:p>
          <a:p>
            <a:r>
              <a:rPr lang="en-US" dirty="0"/>
              <a:t>	1. the reaction point </a:t>
            </a:r>
          </a:p>
          <a:p>
            <a:r>
              <a:rPr lang="en-US" dirty="0"/>
              <a:t>	2. at target exit </a:t>
            </a:r>
          </a:p>
          <a:p>
            <a:r>
              <a:rPr lang="en-US" dirty="0"/>
              <a:t>	3. just before hitting the S3 </a:t>
            </a:r>
          </a:p>
          <a:p>
            <a:r>
              <a:rPr lang="en-US" dirty="0"/>
              <a:t>	4. Energy of triton with gaussian smear</a:t>
            </a:r>
          </a:p>
          <a:p>
            <a:r>
              <a:rPr lang="en-US" dirty="0"/>
              <a:t>(see the data file header for detail) </a:t>
            </a:r>
          </a:p>
          <a:p>
            <a:endParaRPr lang="en-US" b="1" dirty="0"/>
          </a:p>
        </p:txBody>
      </p:sp>
      <p:pic>
        <p:nvPicPr>
          <p:cNvPr id="6" name="Picture 5" descr="A screenshot of a computer program&#10;&#10;AI-generated content may be incorrect.">
            <a:extLst>
              <a:ext uri="{FF2B5EF4-FFF2-40B4-BE49-F238E27FC236}">
                <a16:creationId xmlns:a16="http://schemas.microsoft.com/office/drawing/2014/main" id="{963CF5B4-2577-5011-46C8-8B3479FB44EA}"/>
              </a:ext>
            </a:extLst>
          </p:cNvPr>
          <p:cNvPicPr>
            <a:picLocks noChangeAspect="1"/>
          </p:cNvPicPr>
          <p:nvPr/>
        </p:nvPicPr>
        <p:blipFill>
          <a:blip r:embed="rId2"/>
          <a:stretch>
            <a:fillRect/>
          </a:stretch>
        </p:blipFill>
        <p:spPr>
          <a:xfrm>
            <a:off x="114300" y="4373622"/>
            <a:ext cx="7772400" cy="2332502"/>
          </a:xfrm>
          <a:prstGeom prst="rect">
            <a:avLst/>
          </a:prstGeom>
        </p:spPr>
      </p:pic>
      <p:sp>
        <p:nvSpPr>
          <p:cNvPr id="7" name="TextBox 6">
            <a:extLst>
              <a:ext uri="{FF2B5EF4-FFF2-40B4-BE49-F238E27FC236}">
                <a16:creationId xmlns:a16="http://schemas.microsoft.com/office/drawing/2014/main" id="{0C51731C-06A8-FFE0-A995-553053087F81}"/>
              </a:ext>
            </a:extLst>
          </p:cNvPr>
          <p:cNvSpPr txBox="1"/>
          <p:nvPr/>
        </p:nvSpPr>
        <p:spPr>
          <a:xfrm>
            <a:off x="7886700" y="6339465"/>
            <a:ext cx="3362074" cy="369332"/>
          </a:xfrm>
          <a:prstGeom prst="rect">
            <a:avLst/>
          </a:prstGeom>
          <a:noFill/>
        </p:spPr>
        <p:txBody>
          <a:bodyPr wrap="none" rtlCol="0">
            <a:spAutoFit/>
          </a:bodyPr>
          <a:lstStyle/>
          <a:p>
            <a:r>
              <a:rPr lang="en-US" dirty="0" err="1"/>
              <a:t>EMMAPrimaryGeneratorAction.cc</a:t>
            </a:r>
            <a:endParaRPr lang="en-US" dirty="0"/>
          </a:p>
        </p:txBody>
      </p:sp>
      <p:pic>
        <p:nvPicPr>
          <p:cNvPr id="9" name="Picture 8" descr="A screenshot of a computer program&#10;&#10;AI-generated content may be incorrect.">
            <a:extLst>
              <a:ext uri="{FF2B5EF4-FFF2-40B4-BE49-F238E27FC236}">
                <a16:creationId xmlns:a16="http://schemas.microsoft.com/office/drawing/2014/main" id="{42DBD402-1D45-6F59-D789-5584EEC2D3BE}"/>
              </a:ext>
            </a:extLst>
          </p:cNvPr>
          <p:cNvPicPr>
            <a:picLocks noChangeAspect="1"/>
          </p:cNvPicPr>
          <p:nvPr/>
        </p:nvPicPr>
        <p:blipFill>
          <a:blip r:embed="rId3"/>
          <a:stretch>
            <a:fillRect/>
          </a:stretch>
        </p:blipFill>
        <p:spPr>
          <a:xfrm>
            <a:off x="5985018" y="0"/>
            <a:ext cx="7772400" cy="2790572"/>
          </a:xfrm>
          <a:prstGeom prst="rect">
            <a:avLst/>
          </a:prstGeom>
        </p:spPr>
      </p:pic>
      <p:sp>
        <p:nvSpPr>
          <p:cNvPr id="11" name="TextBox 10">
            <a:extLst>
              <a:ext uri="{FF2B5EF4-FFF2-40B4-BE49-F238E27FC236}">
                <a16:creationId xmlns:a16="http://schemas.microsoft.com/office/drawing/2014/main" id="{88A02464-A37E-9835-F047-9181C7DF82A2}"/>
              </a:ext>
            </a:extLst>
          </p:cNvPr>
          <p:cNvSpPr txBox="1"/>
          <p:nvPr/>
        </p:nvSpPr>
        <p:spPr>
          <a:xfrm>
            <a:off x="8661400" y="2790572"/>
            <a:ext cx="2419637" cy="369332"/>
          </a:xfrm>
          <a:prstGeom prst="rect">
            <a:avLst/>
          </a:prstGeom>
          <a:noFill/>
        </p:spPr>
        <p:txBody>
          <a:bodyPr wrap="none" rtlCol="0">
            <a:spAutoFit/>
          </a:bodyPr>
          <a:lstStyle/>
          <a:p>
            <a:r>
              <a:rPr lang="en-US" dirty="0" err="1"/>
              <a:t>EMMAEventAaction.cc</a:t>
            </a:r>
            <a:r>
              <a:rPr lang="en-US" dirty="0"/>
              <a:t> </a:t>
            </a:r>
          </a:p>
        </p:txBody>
      </p:sp>
      <p:sp>
        <p:nvSpPr>
          <p:cNvPr id="12" name="TextBox 11">
            <a:extLst>
              <a:ext uri="{FF2B5EF4-FFF2-40B4-BE49-F238E27FC236}">
                <a16:creationId xmlns:a16="http://schemas.microsoft.com/office/drawing/2014/main" id="{9935B08C-2C44-2391-A809-574392CBE6A7}"/>
              </a:ext>
            </a:extLst>
          </p:cNvPr>
          <p:cNvSpPr txBox="1"/>
          <p:nvPr/>
        </p:nvSpPr>
        <p:spPr>
          <a:xfrm>
            <a:off x="8229600" y="3549356"/>
            <a:ext cx="4191000" cy="2031325"/>
          </a:xfrm>
          <a:prstGeom prst="rect">
            <a:avLst/>
          </a:prstGeom>
          <a:noFill/>
        </p:spPr>
        <p:txBody>
          <a:bodyPr wrap="square" rtlCol="0">
            <a:spAutoFit/>
          </a:bodyPr>
          <a:lstStyle/>
          <a:p>
            <a:r>
              <a:rPr lang="en-US" dirty="0"/>
              <a:t>Two Gates: </a:t>
            </a:r>
            <a:r>
              <a:rPr lang="en-US" dirty="0" err="1"/>
              <a:t>EMMAPrimaryGeneratorAction.cc</a:t>
            </a:r>
            <a:endParaRPr lang="en-US" dirty="0"/>
          </a:p>
          <a:p>
            <a:r>
              <a:rPr lang="en-US" dirty="0"/>
              <a:t>sets the gate for the sampler, </a:t>
            </a:r>
            <a:r>
              <a:rPr lang="en-US" dirty="0" err="1"/>
              <a:t>EMMAEventAaction.cc</a:t>
            </a:r>
            <a:r>
              <a:rPr lang="en-US" dirty="0"/>
              <a:t> </a:t>
            </a:r>
          </a:p>
          <a:p>
            <a:r>
              <a:rPr lang="en-US" dirty="0"/>
              <a:t>gate selects the tritons that actually hit the rings/within the </a:t>
            </a:r>
          </a:p>
          <a:p>
            <a:r>
              <a:rPr lang="en-US" dirty="0"/>
              <a:t>angle range</a:t>
            </a:r>
          </a:p>
        </p:txBody>
      </p:sp>
    </p:spTree>
    <p:extLst>
      <p:ext uri="{BB962C8B-B14F-4D97-AF65-F5344CB8AC3E}">
        <p14:creationId xmlns:p14="http://schemas.microsoft.com/office/powerpoint/2010/main" val="16444262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8184EDC-E2CD-385F-EB97-0B42750516F7}"/>
              </a:ext>
            </a:extLst>
          </p:cNvPr>
          <p:cNvSpPr>
            <a:spLocks noGrp="1"/>
          </p:cNvSpPr>
          <p:nvPr>
            <p:ph type="title"/>
          </p:nvPr>
        </p:nvSpPr>
        <p:spPr>
          <a:xfrm>
            <a:off x="689344" y="184372"/>
            <a:ext cx="10515600" cy="1325563"/>
          </a:xfrm>
        </p:spPr>
        <p:txBody>
          <a:bodyPr/>
          <a:lstStyle/>
          <a:p>
            <a:r>
              <a:rPr lang="en-US" b="1" dirty="0"/>
              <a:t>Tracking 3H (</a:t>
            </a:r>
            <a:r>
              <a:rPr lang="en-US" b="1" dirty="0" err="1"/>
              <a:t>Cont</a:t>
            </a:r>
            <a:r>
              <a:rPr lang="en-US" b="1" dirty="0"/>
              <a:t>’) </a:t>
            </a:r>
          </a:p>
        </p:txBody>
      </p:sp>
      <p:sp>
        <p:nvSpPr>
          <p:cNvPr id="4" name="TextBox 3">
            <a:extLst>
              <a:ext uri="{FF2B5EF4-FFF2-40B4-BE49-F238E27FC236}">
                <a16:creationId xmlns:a16="http://schemas.microsoft.com/office/drawing/2014/main" id="{3778D4AB-906B-3A98-77AA-4C667B7FAFBD}"/>
              </a:ext>
            </a:extLst>
          </p:cNvPr>
          <p:cNvSpPr txBox="1"/>
          <p:nvPr/>
        </p:nvSpPr>
        <p:spPr>
          <a:xfrm>
            <a:off x="73238" y="1979566"/>
            <a:ext cx="7278880" cy="2677656"/>
          </a:xfrm>
          <a:prstGeom prst="rect">
            <a:avLst/>
          </a:prstGeom>
          <a:noFill/>
        </p:spPr>
        <p:txBody>
          <a:bodyPr wrap="square" rtlCol="0">
            <a:spAutoFit/>
          </a:bodyPr>
          <a:lstStyle/>
          <a:p>
            <a:r>
              <a:rPr lang="en-US" sz="2400" dirty="0"/>
              <a:t>Reset pre-event tritons/S3 buffers  </a:t>
            </a:r>
            <a:r>
              <a:rPr lang="en-US" sz="2400" dirty="0">
                <a:sym typeface="Wingdings" pitchFamily="2" charset="2"/>
              </a:rPr>
              <a:t></a:t>
            </a:r>
          </a:p>
          <a:p>
            <a:r>
              <a:rPr lang="en-US" sz="2400" dirty="0" err="1">
                <a:sym typeface="Wingdings" pitchFamily="2" charset="2"/>
              </a:rPr>
              <a:t>PrimaryGenearatorAaction.cc</a:t>
            </a:r>
            <a:r>
              <a:rPr lang="en-US" sz="2400" dirty="0">
                <a:sym typeface="Wingdings" pitchFamily="2" charset="2"/>
              </a:rPr>
              <a:t> calls two-body kinematics </a:t>
            </a:r>
          </a:p>
          <a:p>
            <a:r>
              <a:rPr lang="en-US" sz="2400" dirty="0" err="1">
                <a:sym typeface="Wingdings" pitchFamily="2" charset="2"/>
              </a:rPr>
              <a:t>simulateTwoBodyReaction</a:t>
            </a:r>
            <a:r>
              <a:rPr lang="en-US" sz="2400" dirty="0">
                <a:sym typeface="Wingdings" pitchFamily="2" charset="2"/>
              </a:rPr>
              <a:t>() to compute kinematics,</a:t>
            </a:r>
          </a:p>
          <a:p>
            <a:r>
              <a:rPr lang="en-US" sz="2400" dirty="0">
                <a:sym typeface="Wingdings" pitchFamily="2" charset="2"/>
              </a:rPr>
              <a:t>sample angles, apply gates  </a:t>
            </a:r>
          </a:p>
          <a:p>
            <a:r>
              <a:rPr lang="en-US" sz="2400" dirty="0">
                <a:sym typeface="Wingdings" pitchFamily="2" charset="2"/>
              </a:rPr>
              <a:t>Kill secondary tracks in </a:t>
            </a:r>
            <a:r>
              <a:rPr lang="en-US" sz="2400" dirty="0" err="1">
                <a:sym typeface="Wingdings" pitchFamily="2" charset="2"/>
              </a:rPr>
              <a:t>StackingAction.cc</a:t>
            </a:r>
            <a:r>
              <a:rPr lang="en-US" sz="2400" dirty="0">
                <a:sym typeface="Wingdings" pitchFamily="2" charset="2"/>
              </a:rPr>
              <a:t>  </a:t>
            </a:r>
          </a:p>
          <a:p>
            <a:r>
              <a:rPr lang="en-US" sz="2400" dirty="0">
                <a:sym typeface="Wingdings" pitchFamily="2" charset="2"/>
              </a:rPr>
              <a:t>Record energy, angles at degrader exit  </a:t>
            </a:r>
          </a:p>
          <a:p>
            <a:r>
              <a:rPr lang="en-US" sz="2400" dirty="0">
                <a:sym typeface="Wingdings" pitchFamily="2" charset="2"/>
              </a:rPr>
              <a:t>Record S3 hits based on geometry </a:t>
            </a:r>
            <a:endParaRPr lang="en-US" sz="2400" dirty="0"/>
          </a:p>
        </p:txBody>
      </p:sp>
      <p:pic>
        <p:nvPicPr>
          <p:cNvPr id="6" name="Picture 5" descr="A screenshot of a computer program&#10;&#10;AI-generated content may be incorrect.">
            <a:extLst>
              <a:ext uri="{FF2B5EF4-FFF2-40B4-BE49-F238E27FC236}">
                <a16:creationId xmlns:a16="http://schemas.microsoft.com/office/drawing/2014/main" id="{0FBD7ACC-61A5-45EA-C3EC-DC4A071E5241}"/>
              </a:ext>
            </a:extLst>
          </p:cNvPr>
          <p:cNvPicPr>
            <a:picLocks noChangeAspect="1"/>
          </p:cNvPicPr>
          <p:nvPr/>
        </p:nvPicPr>
        <p:blipFill>
          <a:blip r:embed="rId2"/>
          <a:stretch>
            <a:fillRect/>
          </a:stretch>
        </p:blipFill>
        <p:spPr>
          <a:xfrm>
            <a:off x="7278880" y="672451"/>
            <a:ext cx="4839882" cy="5513098"/>
          </a:xfrm>
          <a:prstGeom prst="rect">
            <a:avLst/>
          </a:prstGeom>
        </p:spPr>
      </p:pic>
    </p:spTree>
    <p:extLst>
      <p:ext uri="{BB962C8B-B14F-4D97-AF65-F5344CB8AC3E}">
        <p14:creationId xmlns:p14="http://schemas.microsoft.com/office/powerpoint/2010/main" val="22251240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4C438A-C0A6-FF92-7142-79A7DF4377D6}"/>
              </a:ext>
            </a:extLst>
          </p:cNvPr>
          <p:cNvSpPr>
            <a:spLocks noGrp="1"/>
          </p:cNvSpPr>
          <p:nvPr>
            <p:ph type="title"/>
          </p:nvPr>
        </p:nvSpPr>
        <p:spPr>
          <a:xfrm>
            <a:off x="342900" y="0"/>
            <a:ext cx="10515600" cy="1325563"/>
          </a:xfrm>
        </p:spPr>
        <p:txBody>
          <a:bodyPr/>
          <a:lstStyle/>
          <a:p>
            <a:r>
              <a:rPr lang="en-US" b="1" dirty="0">
                <a:latin typeface="Cochin" panose="02000603020000020003" pitchFamily="2" charset="0"/>
              </a:rPr>
              <a:t>S3 Construction</a:t>
            </a:r>
          </a:p>
        </p:txBody>
      </p:sp>
      <p:pic>
        <p:nvPicPr>
          <p:cNvPr id="5" name="Content Placeholder 4" descr="A black background with a blue and purple line&#10;&#10;AI-generated content may be incorrect.">
            <a:extLst>
              <a:ext uri="{FF2B5EF4-FFF2-40B4-BE49-F238E27FC236}">
                <a16:creationId xmlns:a16="http://schemas.microsoft.com/office/drawing/2014/main" id="{8107F3E8-5E86-CA35-E82C-A3D69FEF8993}"/>
              </a:ext>
            </a:extLst>
          </p:cNvPr>
          <p:cNvPicPr>
            <a:picLocks noGrp="1" noChangeAspect="1"/>
          </p:cNvPicPr>
          <p:nvPr>
            <p:ph idx="1"/>
          </p:nvPr>
        </p:nvPicPr>
        <p:blipFill>
          <a:blip r:embed="rId2"/>
          <a:stretch>
            <a:fillRect/>
          </a:stretch>
        </p:blipFill>
        <p:spPr>
          <a:xfrm>
            <a:off x="1271672" y="1853331"/>
            <a:ext cx="9469917" cy="4903206"/>
          </a:xfrm>
          <a:prstGeom prst="rect">
            <a:avLst/>
          </a:prstGeom>
        </p:spPr>
      </p:pic>
      <p:sp>
        <p:nvSpPr>
          <p:cNvPr id="8" name="TextBox 7">
            <a:extLst>
              <a:ext uri="{FF2B5EF4-FFF2-40B4-BE49-F238E27FC236}">
                <a16:creationId xmlns:a16="http://schemas.microsoft.com/office/drawing/2014/main" id="{BF4BA319-430B-FE26-D92C-5E79A44C3CBF}"/>
              </a:ext>
            </a:extLst>
          </p:cNvPr>
          <p:cNvSpPr txBox="1"/>
          <p:nvPr/>
        </p:nvSpPr>
        <p:spPr>
          <a:xfrm>
            <a:off x="6820797" y="527768"/>
            <a:ext cx="3411511" cy="646331"/>
          </a:xfrm>
          <a:prstGeom prst="rect">
            <a:avLst/>
          </a:prstGeom>
          <a:noFill/>
        </p:spPr>
        <p:txBody>
          <a:bodyPr wrap="none" rtlCol="0">
            <a:spAutoFit/>
          </a:bodyPr>
          <a:lstStyle/>
          <a:p>
            <a:r>
              <a:rPr lang="en-US" b="1" dirty="0">
                <a:latin typeface="Cochin" panose="02000603020000020003" pitchFamily="2" charset="0"/>
              </a:rPr>
              <a:t>24 Rings, [</a:t>
            </a:r>
            <a:r>
              <a:rPr lang="en-CA" b="1" dirty="0"/>
              <a:t>131.5</a:t>
            </a:r>
            <a:r>
              <a:rPr lang="en-CA" b="1" dirty="0">
                <a:latin typeface="Cochin" panose="02000603020000020003" pitchFamily="2" charset="0"/>
              </a:rPr>
              <a:t>, 160.5] degrees. </a:t>
            </a:r>
          </a:p>
          <a:p>
            <a:r>
              <a:rPr lang="en-CA" b="1" dirty="0">
                <a:latin typeface="Cochin" panose="02000603020000020003" pitchFamily="2" charset="0"/>
              </a:rPr>
              <a:t>Primary tracks: Tritons </a:t>
            </a:r>
            <a:endParaRPr lang="en-US" b="1" dirty="0">
              <a:latin typeface="Cochin" panose="02000603020000020003" pitchFamily="2" charset="0"/>
            </a:endParaRPr>
          </a:p>
        </p:txBody>
      </p:sp>
      <p:sp>
        <p:nvSpPr>
          <p:cNvPr id="9" name="TextBox 8">
            <a:extLst>
              <a:ext uri="{FF2B5EF4-FFF2-40B4-BE49-F238E27FC236}">
                <a16:creationId xmlns:a16="http://schemas.microsoft.com/office/drawing/2014/main" id="{DCE6452A-79F3-9758-84CD-4BE3F60AD929}"/>
              </a:ext>
            </a:extLst>
          </p:cNvPr>
          <p:cNvSpPr txBox="1"/>
          <p:nvPr/>
        </p:nvSpPr>
        <p:spPr>
          <a:xfrm>
            <a:off x="482600" y="1332535"/>
            <a:ext cx="6851491" cy="369332"/>
          </a:xfrm>
          <a:prstGeom prst="rect">
            <a:avLst/>
          </a:prstGeom>
          <a:noFill/>
        </p:spPr>
        <p:txBody>
          <a:bodyPr wrap="none" rtlCol="0">
            <a:spAutoFit/>
          </a:bodyPr>
          <a:lstStyle/>
          <a:p>
            <a:r>
              <a:rPr lang="en-US" dirty="0" err="1"/>
              <a:t>EMMADetectorConstruction.cc</a:t>
            </a:r>
            <a:r>
              <a:rPr lang="en-US" dirty="0"/>
              <a:t>, EMMAS3Detector.cc, EMMAS3Hit.hh</a:t>
            </a:r>
          </a:p>
        </p:txBody>
      </p:sp>
    </p:spTree>
    <p:extLst>
      <p:ext uri="{BB962C8B-B14F-4D97-AF65-F5344CB8AC3E}">
        <p14:creationId xmlns:p14="http://schemas.microsoft.com/office/powerpoint/2010/main" val="19494826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79967CA-9910-EC1C-9CBD-F16248B564D6}"/>
              </a:ext>
            </a:extLst>
          </p:cNvPr>
          <p:cNvSpPr>
            <a:spLocks noGrp="1"/>
          </p:cNvSpPr>
          <p:nvPr>
            <p:ph type="title"/>
          </p:nvPr>
        </p:nvSpPr>
        <p:spPr>
          <a:xfrm>
            <a:off x="187037" y="-189056"/>
            <a:ext cx="10515600" cy="1325563"/>
          </a:xfrm>
        </p:spPr>
        <p:txBody>
          <a:bodyPr/>
          <a:lstStyle/>
          <a:p>
            <a:r>
              <a:rPr lang="en-US" b="1" dirty="0">
                <a:latin typeface="Cochin" panose="02000603020000020003" pitchFamily="2" charset="0"/>
              </a:rPr>
              <a:t>S3 Construction(</a:t>
            </a:r>
            <a:r>
              <a:rPr lang="en-US" b="1" dirty="0" err="1">
                <a:latin typeface="Cochin" panose="02000603020000020003" pitchFamily="2" charset="0"/>
              </a:rPr>
              <a:t>cont</a:t>
            </a:r>
            <a:r>
              <a:rPr lang="en-US" b="1" dirty="0">
                <a:latin typeface="Cochin" panose="02000603020000020003" pitchFamily="2" charset="0"/>
              </a:rPr>
              <a:t>’) </a:t>
            </a:r>
            <a:endParaRPr lang="en-US" dirty="0"/>
          </a:p>
        </p:txBody>
      </p:sp>
      <p:pic>
        <p:nvPicPr>
          <p:cNvPr id="6" name="Picture 5" descr="A screenshot of a computer program&#10;&#10;AI-generated content may be incorrect.">
            <a:extLst>
              <a:ext uri="{FF2B5EF4-FFF2-40B4-BE49-F238E27FC236}">
                <a16:creationId xmlns:a16="http://schemas.microsoft.com/office/drawing/2014/main" id="{9B0F4520-F49F-6164-A4D0-BCFE03769233}"/>
              </a:ext>
            </a:extLst>
          </p:cNvPr>
          <p:cNvPicPr>
            <a:picLocks noChangeAspect="1"/>
          </p:cNvPicPr>
          <p:nvPr/>
        </p:nvPicPr>
        <p:blipFill>
          <a:blip r:embed="rId2"/>
          <a:stretch>
            <a:fillRect/>
          </a:stretch>
        </p:blipFill>
        <p:spPr>
          <a:xfrm>
            <a:off x="5668725" y="1136507"/>
            <a:ext cx="6336238" cy="4904075"/>
          </a:xfrm>
          <a:prstGeom prst="rect">
            <a:avLst/>
          </a:prstGeom>
        </p:spPr>
      </p:pic>
      <p:sp>
        <p:nvSpPr>
          <p:cNvPr id="7" name="TextBox 6">
            <a:extLst>
              <a:ext uri="{FF2B5EF4-FFF2-40B4-BE49-F238E27FC236}">
                <a16:creationId xmlns:a16="http://schemas.microsoft.com/office/drawing/2014/main" id="{AB4E89C3-5558-BE8C-FF8C-76E6FAC219C7}"/>
              </a:ext>
            </a:extLst>
          </p:cNvPr>
          <p:cNvSpPr txBox="1"/>
          <p:nvPr/>
        </p:nvSpPr>
        <p:spPr>
          <a:xfrm>
            <a:off x="7612070" y="473725"/>
            <a:ext cx="3741730" cy="707886"/>
          </a:xfrm>
          <a:prstGeom prst="rect">
            <a:avLst/>
          </a:prstGeom>
          <a:noFill/>
        </p:spPr>
        <p:txBody>
          <a:bodyPr wrap="none" rtlCol="0">
            <a:spAutoFit/>
          </a:bodyPr>
          <a:lstStyle/>
          <a:p>
            <a:r>
              <a:rPr lang="en-US" sz="2000" dirty="0"/>
              <a:t>I’ve hard coded the S3 geometry in </a:t>
            </a:r>
          </a:p>
          <a:p>
            <a:r>
              <a:rPr lang="en-US" sz="2000" dirty="0" err="1"/>
              <a:t>EMMADetectorConstruction.cc</a:t>
            </a:r>
            <a:endParaRPr lang="en-US" sz="2000" dirty="0"/>
          </a:p>
        </p:txBody>
      </p:sp>
      <p:sp>
        <p:nvSpPr>
          <p:cNvPr id="8" name="TextBox 7">
            <a:extLst>
              <a:ext uri="{FF2B5EF4-FFF2-40B4-BE49-F238E27FC236}">
                <a16:creationId xmlns:a16="http://schemas.microsoft.com/office/drawing/2014/main" id="{DCA1E2B4-C5B7-07A6-372A-4D19843917AD}"/>
              </a:ext>
            </a:extLst>
          </p:cNvPr>
          <p:cNvSpPr txBox="1"/>
          <p:nvPr/>
        </p:nvSpPr>
        <p:spPr>
          <a:xfrm>
            <a:off x="7311693" y="112619"/>
            <a:ext cx="5209309" cy="461665"/>
          </a:xfrm>
          <a:prstGeom prst="rect">
            <a:avLst/>
          </a:prstGeom>
          <a:noFill/>
        </p:spPr>
        <p:txBody>
          <a:bodyPr wrap="square" rtlCol="0">
            <a:spAutoFit/>
          </a:bodyPr>
          <a:lstStyle/>
          <a:p>
            <a:r>
              <a:rPr lang="en-US" sz="2400" dirty="0">
                <a:solidFill>
                  <a:srgbClr val="FF0000"/>
                </a:solidFill>
              </a:rPr>
              <a:t>No Sector segmentations yet </a:t>
            </a:r>
          </a:p>
        </p:txBody>
      </p:sp>
      <p:pic>
        <p:nvPicPr>
          <p:cNvPr id="10" name="Picture 9" descr="A screen shot of a computer program&#10;&#10;AI-generated content may be incorrect.">
            <a:extLst>
              <a:ext uri="{FF2B5EF4-FFF2-40B4-BE49-F238E27FC236}">
                <a16:creationId xmlns:a16="http://schemas.microsoft.com/office/drawing/2014/main" id="{D92D7D7E-9660-0812-FB86-5DEE17879B9F}"/>
              </a:ext>
            </a:extLst>
          </p:cNvPr>
          <p:cNvPicPr>
            <a:picLocks noChangeAspect="1"/>
          </p:cNvPicPr>
          <p:nvPr/>
        </p:nvPicPr>
        <p:blipFill>
          <a:blip r:embed="rId3"/>
          <a:stretch>
            <a:fillRect/>
          </a:stretch>
        </p:blipFill>
        <p:spPr>
          <a:xfrm>
            <a:off x="0" y="1676400"/>
            <a:ext cx="5248467" cy="4062170"/>
          </a:xfrm>
          <a:prstGeom prst="rect">
            <a:avLst/>
          </a:prstGeom>
        </p:spPr>
      </p:pic>
      <p:sp>
        <p:nvSpPr>
          <p:cNvPr id="11" name="TextBox 10">
            <a:extLst>
              <a:ext uri="{FF2B5EF4-FFF2-40B4-BE49-F238E27FC236}">
                <a16:creationId xmlns:a16="http://schemas.microsoft.com/office/drawing/2014/main" id="{DA1FD1F6-C6D1-756E-AB82-AE8064451203}"/>
              </a:ext>
            </a:extLst>
          </p:cNvPr>
          <p:cNvSpPr txBox="1"/>
          <p:nvPr/>
        </p:nvSpPr>
        <p:spPr>
          <a:xfrm>
            <a:off x="611118" y="6040582"/>
            <a:ext cx="4026230" cy="369332"/>
          </a:xfrm>
          <a:prstGeom prst="rect">
            <a:avLst/>
          </a:prstGeom>
          <a:noFill/>
        </p:spPr>
        <p:txBody>
          <a:bodyPr wrap="none" rtlCol="0">
            <a:spAutoFit/>
          </a:bodyPr>
          <a:lstStyle/>
          <a:p>
            <a:r>
              <a:rPr lang="en-US" dirty="0"/>
              <a:t>Build the </a:t>
            </a:r>
            <a:r>
              <a:rPr lang="en-US" dirty="0" err="1"/>
              <a:t>sensetive</a:t>
            </a:r>
            <a:r>
              <a:rPr lang="en-US" dirty="0"/>
              <a:t> detector attached to S3 </a:t>
            </a:r>
          </a:p>
        </p:txBody>
      </p:sp>
    </p:spTree>
    <p:extLst>
      <p:ext uri="{BB962C8B-B14F-4D97-AF65-F5344CB8AC3E}">
        <p14:creationId xmlns:p14="http://schemas.microsoft.com/office/powerpoint/2010/main" val="8687072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screen shot of a computer&#10;&#10;AI-generated content may be incorrect.">
            <a:extLst>
              <a:ext uri="{FF2B5EF4-FFF2-40B4-BE49-F238E27FC236}">
                <a16:creationId xmlns:a16="http://schemas.microsoft.com/office/drawing/2014/main" id="{CB417386-3E66-45EA-8BDB-D43EC707EC9E}"/>
              </a:ext>
            </a:extLst>
          </p:cNvPr>
          <p:cNvPicPr>
            <a:picLocks noGrp="1" noChangeAspect="1"/>
          </p:cNvPicPr>
          <p:nvPr>
            <p:ph idx="1"/>
          </p:nvPr>
        </p:nvPicPr>
        <p:blipFill>
          <a:blip r:embed="rId2"/>
          <a:stretch>
            <a:fillRect/>
          </a:stretch>
        </p:blipFill>
        <p:spPr>
          <a:xfrm>
            <a:off x="501072" y="1690688"/>
            <a:ext cx="5830455" cy="4512612"/>
          </a:xfrm>
          <a:prstGeom prst="rect">
            <a:avLst/>
          </a:prstGeom>
        </p:spPr>
      </p:pic>
      <p:sp>
        <p:nvSpPr>
          <p:cNvPr id="3" name="Title 2">
            <a:extLst>
              <a:ext uri="{FF2B5EF4-FFF2-40B4-BE49-F238E27FC236}">
                <a16:creationId xmlns:a16="http://schemas.microsoft.com/office/drawing/2014/main" id="{634A3780-1FE7-7BB3-D675-ADD98F04E559}"/>
              </a:ext>
            </a:extLst>
          </p:cNvPr>
          <p:cNvSpPr>
            <a:spLocks noGrp="1"/>
          </p:cNvSpPr>
          <p:nvPr>
            <p:ph type="title"/>
          </p:nvPr>
        </p:nvSpPr>
        <p:spPr/>
        <p:txBody>
          <a:bodyPr/>
          <a:lstStyle/>
          <a:p>
            <a:r>
              <a:rPr lang="en-US" dirty="0"/>
              <a:t>S3 Hits </a:t>
            </a:r>
          </a:p>
        </p:txBody>
      </p:sp>
      <p:sp>
        <p:nvSpPr>
          <p:cNvPr id="6" name="TextBox 5">
            <a:extLst>
              <a:ext uri="{FF2B5EF4-FFF2-40B4-BE49-F238E27FC236}">
                <a16:creationId xmlns:a16="http://schemas.microsoft.com/office/drawing/2014/main" id="{8E91E34C-567D-4FE6-2391-CC3F02FE30F5}"/>
              </a:ext>
            </a:extLst>
          </p:cNvPr>
          <p:cNvSpPr txBox="1"/>
          <p:nvPr/>
        </p:nvSpPr>
        <p:spPr>
          <a:xfrm>
            <a:off x="6591236" y="3429000"/>
            <a:ext cx="5600764" cy="523220"/>
          </a:xfrm>
          <a:prstGeom prst="rect">
            <a:avLst/>
          </a:prstGeom>
          <a:noFill/>
        </p:spPr>
        <p:txBody>
          <a:bodyPr wrap="none" rtlCol="0">
            <a:spAutoFit/>
          </a:bodyPr>
          <a:lstStyle/>
          <a:p>
            <a:r>
              <a:rPr lang="en-US" sz="2800" dirty="0"/>
              <a:t>Record energy, angles of the triton hits</a:t>
            </a:r>
          </a:p>
        </p:txBody>
      </p:sp>
    </p:spTree>
    <p:extLst>
      <p:ext uri="{BB962C8B-B14F-4D97-AF65-F5344CB8AC3E}">
        <p14:creationId xmlns:p14="http://schemas.microsoft.com/office/powerpoint/2010/main" val="1555107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3E607D-6206-1C58-8DC5-1EB521545E72}"/>
              </a:ext>
            </a:extLst>
          </p:cNvPr>
          <p:cNvSpPr>
            <a:spLocks noGrp="1"/>
          </p:cNvSpPr>
          <p:nvPr>
            <p:ph type="title"/>
          </p:nvPr>
        </p:nvSpPr>
        <p:spPr>
          <a:xfrm>
            <a:off x="635000" y="97572"/>
            <a:ext cx="10515600" cy="1325563"/>
          </a:xfrm>
        </p:spPr>
        <p:txBody>
          <a:bodyPr/>
          <a:lstStyle/>
          <a:p>
            <a:r>
              <a:rPr lang="en-US" b="1" dirty="0">
                <a:latin typeface="Cochin" panose="02000603020000020003" pitchFamily="2" charset="0"/>
              </a:rPr>
              <a:t>Kinematics</a:t>
            </a:r>
          </a:p>
        </p:txBody>
      </p:sp>
      <p:sp>
        <p:nvSpPr>
          <p:cNvPr id="3" name="Content Placeholder 2">
            <a:extLst>
              <a:ext uri="{FF2B5EF4-FFF2-40B4-BE49-F238E27FC236}">
                <a16:creationId xmlns:a16="http://schemas.microsoft.com/office/drawing/2014/main" id="{8BB8D7C2-9AC5-767A-C651-5716D99092FB}"/>
              </a:ext>
            </a:extLst>
          </p:cNvPr>
          <p:cNvSpPr>
            <a:spLocks noGrp="1"/>
          </p:cNvSpPr>
          <p:nvPr>
            <p:ph idx="1"/>
          </p:nvPr>
        </p:nvSpPr>
        <p:spPr/>
        <p:txBody>
          <a:bodyPr/>
          <a:lstStyle/>
          <a:p>
            <a:endParaRPr lang="en-US" dirty="0"/>
          </a:p>
        </p:txBody>
      </p:sp>
      <p:pic>
        <p:nvPicPr>
          <p:cNvPr id="4" name="Picture 3" descr="A graph of a diagram&#10;&#10;AI-generated content may be incorrect.">
            <a:extLst>
              <a:ext uri="{FF2B5EF4-FFF2-40B4-BE49-F238E27FC236}">
                <a16:creationId xmlns:a16="http://schemas.microsoft.com/office/drawing/2014/main" id="{59B95D2A-276E-FDC4-A710-C13F4CFE3AA7}"/>
              </a:ext>
            </a:extLst>
          </p:cNvPr>
          <p:cNvPicPr>
            <a:picLocks noChangeAspect="1"/>
          </p:cNvPicPr>
          <p:nvPr/>
        </p:nvPicPr>
        <p:blipFill>
          <a:blip r:embed="rId3"/>
          <a:stretch>
            <a:fillRect/>
          </a:stretch>
        </p:blipFill>
        <p:spPr>
          <a:xfrm>
            <a:off x="203200" y="1509249"/>
            <a:ext cx="6424318" cy="4778219"/>
          </a:xfrm>
          <a:prstGeom prst="rect">
            <a:avLst/>
          </a:prstGeom>
        </p:spPr>
      </p:pic>
      <p:pic>
        <p:nvPicPr>
          <p:cNvPr id="5" name="Picture 4" descr="A graph of a diagram&#10;&#10;AI-generated content may be incorrect.">
            <a:extLst>
              <a:ext uri="{FF2B5EF4-FFF2-40B4-BE49-F238E27FC236}">
                <a16:creationId xmlns:a16="http://schemas.microsoft.com/office/drawing/2014/main" id="{FE277F87-6018-A07F-BCD2-CB6BE91B8D0A}"/>
              </a:ext>
            </a:extLst>
          </p:cNvPr>
          <p:cNvPicPr>
            <a:picLocks noChangeAspect="1"/>
          </p:cNvPicPr>
          <p:nvPr/>
        </p:nvPicPr>
        <p:blipFill>
          <a:blip r:embed="rId4"/>
          <a:stretch>
            <a:fillRect/>
          </a:stretch>
        </p:blipFill>
        <p:spPr>
          <a:xfrm>
            <a:off x="6437745" y="1533640"/>
            <a:ext cx="5754255" cy="4643323"/>
          </a:xfrm>
          <a:prstGeom prst="rect">
            <a:avLst/>
          </a:prstGeom>
        </p:spPr>
      </p:pic>
      <p:sp>
        <p:nvSpPr>
          <p:cNvPr id="6" name="TextBox 5">
            <a:extLst>
              <a:ext uri="{FF2B5EF4-FFF2-40B4-BE49-F238E27FC236}">
                <a16:creationId xmlns:a16="http://schemas.microsoft.com/office/drawing/2014/main" id="{2221F723-D905-A599-FFA1-CEE5ACE5B9D8}"/>
              </a:ext>
            </a:extLst>
          </p:cNvPr>
          <p:cNvSpPr txBox="1"/>
          <p:nvPr/>
        </p:nvSpPr>
        <p:spPr>
          <a:xfrm>
            <a:off x="5410200" y="570532"/>
            <a:ext cx="4638899" cy="461665"/>
          </a:xfrm>
          <a:prstGeom prst="rect">
            <a:avLst/>
          </a:prstGeom>
          <a:noFill/>
        </p:spPr>
        <p:txBody>
          <a:bodyPr wrap="none" rtlCol="0">
            <a:spAutoFit/>
          </a:bodyPr>
          <a:lstStyle/>
          <a:p>
            <a:r>
              <a:rPr lang="en-US" sz="2400" dirty="0"/>
              <a:t>The angles are sampled </a:t>
            </a:r>
            <a:r>
              <a:rPr lang="en-US" sz="2400" b="1" dirty="0" err="1"/>
              <a:t>isotropically</a:t>
            </a:r>
            <a:endParaRPr lang="en-US" sz="2400" b="1" dirty="0"/>
          </a:p>
        </p:txBody>
      </p:sp>
    </p:spTree>
    <p:extLst>
      <p:ext uri="{BB962C8B-B14F-4D97-AF65-F5344CB8AC3E}">
        <p14:creationId xmlns:p14="http://schemas.microsoft.com/office/powerpoint/2010/main" val="27939864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E21945-F98B-3C93-983B-2FC74E978129}"/>
            </a:ext>
          </a:extLst>
        </p:cNvPr>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1A7B136E-3B67-B6A0-9428-4791FE36F76C}"/>
              </a:ext>
            </a:extLst>
          </p:cNvPr>
          <p:cNvCxnSpPr>
            <a:cxnSpLocks/>
          </p:cNvCxnSpPr>
          <p:nvPr/>
        </p:nvCxnSpPr>
        <p:spPr>
          <a:xfrm>
            <a:off x="93785" y="6477733"/>
            <a:ext cx="12038540" cy="0"/>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2351D046-76CF-3E5E-08CB-9206921E1EF9}"/>
              </a:ext>
            </a:extLst>
          </p:cNvPr>
          <p:cNvSpPr txBox="1"/>
          <p:nvPr/>
        </p:nvSpPr>
        <p:spPr>
          <a:xfrm>
            <a:off x="93785" y="6477733"/>
            <a:ext cx="5240537" cy="307777"/>
          </a:xfrm>
          <a:prstGeom prst="rect">
            <a:avLst/>
          </a:prstGeom>
          <a:noFill/>
        </p:spPr>
        <p:txBody>
          <a:bodyPr wrap="none" rtlCol="0">
            <a:spAutoFit/>
          </a:bodyPr>
          <a:lstStyle/>
          <a:p>
            <a:r>
              <a:rPr lang="en-CA" sz="1400" dirty="0">
                <a:solidFill>
                  <a:schemeClr val="bg2">
                    <a:lumMod val="50000"/>
                  </a:schemeClr>
                </a:solidFill>
              </a:rPr>
              <a:t>Winter Nuclear &amp; Particle Physics Conference, Feb 12-15, 2026</a:t>
            </a:r>
          </a:p>
        </p:txBody>
      </p:sp>
      <p:sp>
        <p:nvSpPr>
          <p:cNvPr id="2" name="TextBox 1">
            <a:extLst>
              <a:ext uri="{FF2B5EF4-FFF2-40B4-BE49-F238E27FC236}">
                <a16:creationId xmlns:a16="http://schemas.microsoft.com/office/drawing/2014/main" id="{DC739074-33D5-1BBD-FFA7-B8B6350860D3}"/>
              </a:ext>
            </a:extLst>
          </p:cNvPr>
          <p:cNvSpPr txBox="1"/>
          <p:nvPr/>
        </p:nvSpPr>
        <p:spPr>
          <a:xfrm>
            <a:off x="225911" y="195600"/>
            <a:ext cx="4705134" cy="523220"/>
          </a:xfrm>
          <a:prstGeom prst="rect">
            <a:avLst/>
          </a:prstGeom>
          <a:noFill/>
        </p:spPr>
        <p:txBody>
          <a:bodyPr wrap="none" rtlCol="0">
            <a:spAutoFit/>
          </a:bodyPr>
          <a:lstStyle/>
          <a:p>
            <a:r>
              <a:rPr lang="en-US" sz="2800" b="1" dirty="0"/>
              <a:t>Recoil (</a:t>
            </a:r>
            <a:r>
              <a:rPr lang="en-US" sz="2800" b="1" baseline="30000" dirty="0">
                <a:solidFill>
                  <a:schemeClr val="tx1">
                    <a:lumMod val="95000"/>
                    <a:lumOff val="5000"/>
                  </a:schemeClr>
                </a:solidFill>
              </a:rPr>
              <a:t>26</a:t>
            </a:r>
            <a:r>
              <a:rPr lang="en-US" sz="2800" b="1" dirty="0">
                <a:solidFill>
                  <a:schemeClr val="tx1">
                    <a:lumMod val="95000"/>
                    <a:lumOff val="5000"/>
                  </a:schemeClr>
                </a:solidFill>
              </a:rPr>
              <a:t>Mg)</a:t>
            </a:r>
            <a:r>
              <a:rPr lang="en-US" sz="2800" b="1" dirty="0"/>
              <a:t> Distributions</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8C7FBE3F-9256-8C76-11EE-8C482F7474BB}"/>
                  </a:ext>
                </a:extLst>
              </p:cNvPr>
              <p:cNvSpPr txBox="1"/>
              <p:nvPr/>
            </p:nvSpPr>
            <p:spPr>
              <a:xfrm>
                <a:off x="4722852" y="839218"/>
                <a:ext cx="3425851" cy="400110"/>
              </a:xfrm>
              <a:prstGeom prst="rect">
                <a:avLst/>
              </a:prstGeom>
              <a:noFill/>
            </p:spPr>
            <p:txBody>
              <a:bodyPr wrap="square">
                <a:spAutoFit/>
              </a:bodyPr>
              <a:lstStyle/>
              <a:p>
                <a:r>
                  <a:rPr lang="en-US" sz="2000" dirty="0">
                    <a:solidFill>
                      <a:srgbClr val="00A9FF"/>
                    </a:solidFill>
                  </a:rPr>
                  <a:t>Triton angle </a:t>
                </a:r>
                <a14:m>
                  <m:oMath xmlns:m="http://schemas.openxmlformats.org/officeDocument/2006/math">
                    <m:r>
                      <m:rPr>
                        <m:sty m:val="p"/>
                      </m:rPr>
                      <a:rPr lang="el-GR" sz="2000" i="1" smtClean="0">
                        <a:solidFill>
                          <a:srgbClr val="00A9FF"/>
                        </a:solidFill>
                        <a:latin typeface="Cambria Math" panose="02040503050406030204" pitchFamily="18" charset="0"/>
                        <a:ea typeface="Cambria Math" panose="02040503050406030204" pitchFamily="18" charset="0"/>
                      </a:rPr>
                      <m:t>Θ</m:t>
                    </m:r>
                    <m:r>
                      <a:rPr lang="el-GR" sz="2000" i="1" smtClean="0">
                        <a:solidFill>
                          <a:srgbClr val="00A9FF"/>
                        </a:solidFill>
                        <a:latin typeface="Cambria Math" panose="02040503050406030204" pitchFamily="18" charset="0"/>
                        <a:ea typeface="Cambria Math" panose="02040503050406030204" pitchFamily="18" charset="0"/>
                      </a:rPr>
                      <m:t>∈</m:t>
                    </m:r>
                    <m:d>
                      <m:dPr>
                        <m:begChr m:val="["/>
                        <m:endChr m:val="]"/>
                        <m:ctrlPr>
                          <a:rPr lang="en-CA" sz="2000" b="0" i="1" smtClean="0">
                            <a:solidFill>
                              <a:srgbClr val="00A9FF"/>
                            </a:solidFill>
                            <a:latin typeface="Cambria Math" panose="02040503050406030204" pitchFamily="18" charset="0"/>
                            <a:ea typeface="Cambria Math" panose="02040503050406030204" pitchFamily="18" charset="0"/>
                          </a:rPr>
                        </m:ctrlPr>
                      </m:dPr>
                      <m:e>
                        <m:r>
                          <a:rPr lang="en-CA" sz="2000" b="0" i="1" smtClean="0">
                            <a:solidFill>
                              <a:srgbClr val="00A9FF"/>
                            </a:solidFill>
                            <a:latin typeface="Cambria Math" panose="02040503050406030204" pitchFamily="18" charset="0"/>
                            <a:ea typeface="Cambria Math" panose="02040503050406030204" pitchFamily="18" charset="0"/>
                          </a:rPr>
                          <m:t>130°, 160°</m:t>
                        </m:r>
                      </m:e>
                    </m:d>
                  </m:oMath>
                </a14:m>
                <a:endParaRPr lang="en-CA" sz="2000" b="0" dirty="0">
                  <a:solidFill>
                    <a:srgbClr val="00A9FF"/>
                  </a:solidFill>
                  <a:ea typeface="Cambria Math" panose="02040503050406030204" pitchFamily="18" charset="0"/>
                </a:endParaRPr>
              </a:p>
            </p:txBody>
          </p:sp>
        </mc:Choice>
        <mc:Fallback xmlns="">
          <p:sp>
            <p:nvSpPr>
              <p:cNvPr id="9" name="TextBox 8">
                <a:extLst>
                  <a:ext uri="{FF2B5EF4-FFF2-40B4-BE49-F238E27FC236}">
                    <a16:creationId xmlns:a16="http://schemas.microsoft.com/office/drawing/2014/main" id="{8C7FBE3F-9256-8C76-11EE-8C482F7474BB}"/>
                  </a:ext>
                </a:extLst>
              </p:cNvPr>
              <p:cNvSpPr txBox="1">
                <a:spLocks noRot="1" noChangeAspect="1" noMove="1" noResize="1" noEditPoints="1" noAdjustHandles="1" noChangeArrowheads="1" noChangeShapeType="1" noTextEdit="1"/>
              </p:cNvSpPr>
              <p:nvPr/>
            </p:nvSpPr>
            <p:spPr>
              <a:xfrm>
                <a:off x="4722852" y="839218"/>
                <a:ext cx="3425851" cy="400110"/>
              </a:xfrm>
              <a:prstGeom prst="rect">
                <a:avLst/>
              </a:prstGeom>
              <a:blipFill>
                <a:blip r:embed="rId3"/>
                <a:stretch>
                  <a:fillRect l="-2222" t="-6250" b="-31250"/>
                </a:stretch>
              </a:blipFill>
            </p:spPr>
            <p:txBody>
              <a:bodyPr/>
              <a:lstStyle/>
              <a:p>
                <a:r>
                  <a:rPr lang="en-US">
                    <a:noFill/>
                  </a:rPr>
                  <a:t> </a:t>
                </a:r>
              </a:p>
            </p:txBody>
          </p:sp>
        </mc:Fallback>
      </mc:AlternateContent>
      <p:pic>
        <p:nvPicPr>
          <p:cNvPr id="42" name="Picture 41" descr="A graph of a blue circle with yellow dots&#10;&#10;AI-generated content may be incorrect.">
            <a:extLst>
              <a:ext uri="{FF2B5EF4-FFF2-40B4-BE49-F238E27FC236}">
                <a16:creationId xmlns:a16="http://schemas.microsoft.com/office/drawing/2014/main" id="{908D17B6-B73C-4C23-9390-50E1FC5C1EED}"/>
              </a:ext>
            </a:extLst>
          </p:cNvPr>
          <p:cNvPicPr>
            <a:picLocks noChangeAspect="1"/>
          </p:cNvPicPr>
          <p:nvPr/>
        </p:nvPicPr>
        <p:blipFill>
          <a:blip r:embed="rId4"/>
          <a:stretch>
            <a:fillRect/>
          </a:stretch>
        </p:blipFill>
        <p:spPr>
          <a:xfrm>
            <a:off x="4218622" y="1856790"/>
            <a:ext cx="3998321" cy="3558103"/>
          </a:xfrm>
          <a:prstGeom prst="rect">
            <a:avLst/>
          </a:prstGeom>
        </p:spPr>
      </p:pic>
      <p:pic>
        <p:nvPicPr>
          <p:cNvPr id="46" name="Picture 45" descr="A graph of a circular object with yellow dots&#10;&#10;AI-generated content may be incorrect.">
            <a:extLst>
              <a:ext uri="{FF2B5EF4-FFF2-40B4-BE49-F238E27FC236}">
                <a16:creationId xmlns:a16="http://schemas.microsoft.com/office/drawing/2014/main" id="{97985F9E-C8E2-80D5-8845-761C5FED7BB0}"/>
              </a:ext>
            </a:extLst>
          </p:cNvPr>
          <p:cNvPicPr>
            <a:picLocks noChangeAspect="1"/>
          </p:cNvPicPr>
          <p:nvPr/>
        </p:nvPicPr>
        <p:blipFill>
          <a:blip r:embed="rId5"/>
          <a:stretch>
            <a:fillRect/>
          </a:stretch>
        </p:blipFill>
        <p:spPr>
          <a:xfrm>
            <a:off x="8237639" y="1893948"/>
            <a:ext cx="3875886" cy="3520945"/>
          </a:xfrm>
          <a:prstGeom prst="rect">
            <a:avLst/>
          </a:prstGeom>
        </p:spPr>
      </p:pic>
      <p:sp>
        <p:nvSpPr>
          <p:cNvPr id="49" name="Oval 48">
            <a:extLst>
              <a:ext uri="{FF2B5EF4-FFF2-40B4-BE49-F238E27FC236}">
                <a16:creationId xmlns:a16="http://schemas.microsoft.com/office/drawing/2014/main" id="{70C69D25-88A0-B12A-ED88-C85C5841F448}"/>
              </a:ext>
            </a:extLst>
          </p:cNvPr>
          <p:cNvSpPr/>
          <p:nvPr/>
        </p:nvSpPr>
        <p:spPr>
          <a:xfrm>
            <a:off x="5334322" y="2750234"/>
            <a:ext cx="1643253" cy="1617784"/>
          </a:xfrm>
          <a:prstGeom prst="ellipse">
            <a:avLst/>
          </a:prstGeom>
          <a:noFill/>
          <a:ln w="34925">
            <a:solidFill>
              <a:srgbClr val="FF26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C1E76C16-FF8F-F828-F3C6-4EA4F9A93ABE}"/>
              </a:ext>
            </a:extLst>
          </p:cNvPr>
          <p:cNvSpPr/>
          <p:nvPr/>
        </p:nvSpPr>
        <p:spPr>
          <a:xfrm>
            <a:off x="5915484" y="2286203"/>
            <a:ext cx="437210" cy="135862"/>
          </a:xfrm>
          <a:prstGeom prst="rect">
            <a:avLst/>
          </a:prstGeom>
          <a:noFill/>
          <a:ln w="44450">
            <a:solidFill>
              <a:srgbClr val="FF26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26252F37-1AC3-F27E-A44D-613C2F7F1612}"/>
              </a:ext>
            </a:extLst>
          </p:cNvPr>
          <p:cNvSpPr/>
          <p:nvPr/>
        </p:nvSpPr>
        <p:spPr>
          <a:xfrm>
            <a:off x="9332643" y="2789445"/>
            <a:ext cx="1548146" cy="1610720"/>
          </a:xfrm>
          <a:prstGeom prst="ellipse">
            <a:avLst/>
          </a:prstGeom>
          <a:noFill/>
          <a:ln w="34925">
            <a:solidFill>
              <a:srgbClr val="FF26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Rectangle 51">
            <a:extLst>
              <a:ext uri="{FF2B5EF4-FFF2-40B4-BE49-F238E27FC236}">
                <a16:creationId xmlns:a16="http://schemas.microsoft.com/office/drawing/2014/main" id="{7C36C0BF-19B9-A124-D817-77D363CE330E}"/>
              </a:ext>
            </a:extLst>
          </p:cNvPr>
          <p:cNvSpPr/>
          <p:nvPr/>
        </p:nvSpPr>
        <p:spPr>
          <a:xfrm>
            <a:off x="9831255" y="2325338"/>
            <a:ext cx="437210" cy="135862"/>
          </a:xfrm>
          <a:prstGeom prst="rect">
            <a:avLst/>
          </a:prstGeom>
          <a:noFill/>
          <a:ln w="44450">
            <a:solidFill>
              <a:srgbClr val="FF26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4" name="Picture 53" descr="A purple circle with yellow dots&#10;&#10;AI-generated content may be incorrect.">
            <a:extLst>
              <a:ext uri="{FF2B5EF4-FFF2-40B4-BE49-F238E27FC236}">
                <a16:creationId xmlns:a16="http://schemas.microsoft.com/office/drawing/2014/main" id="{1E2ACDAC-ECA8-C427-EADE-8980541C7078}"/>
              </a:ext>
            </a:extLst>
          </p:cNvPr>
          <p:cNvPicPr>
            <a:picLocks noChangeAspect="1"/>
          </p:cNvPicPr>
          <p:nvPr/>
        </p:nvPicPr>
        <p:blipFill>
          <a:blip r:embed="rId6"/>
          <a:stretch>
            <a:fillRect/>
          </a:stretch>
        </p:blipFill>
        <p:spPr>
          <a:xfrm>
            <a:off x="78475" y="1781660"/>
            <a:ext cx="4119451" cy="3665897"/>
          </a:xfrm>
          <a:prstGeom prst="rect">
            <a:avLst/>
          </a:prstGeom>
        </p:spPr>
      </p:pic>
      <p:sp>
        <p:nvSpPr>
          <p:cNvPr id="55" name="Oval 54">
            <a:extLst>
              <a:ext uri="{FF2B5EF4-FFF2-40B4-BE49-F238E27FC236}">
                <a16:creationId xmlns:a16="http://schemas.microsoft.com/office/drawing/2014/main" id="{6D7F45AD-4ABD-9D2B-8F68-AD98FE0E5C9E}"/>
              </a:ext>
            </a:extLst>
          </p:cNvPr>
          <p:cNvSpPr/>
          <p:nvPr/>
        </p:nvSpPr>
        <p:spPr>
          <a:xfrm>
            <a:off x="1223889" y="2700908"/>
            <a:ext cx="1659599" cy="1667110"/>
          </a:xfrm>
          <a:prstGeom prst="ellipse">
            <a:avLst/>
          </a:prstGeom>
          <a:noFill/>
          <a:ln w="34925">
            <a:solidFill>
              <a:srgbClr val="FF26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Rectangle 55">
            <a:extLst>
              <a:ext uri="{FF2B5EF4-FFF2-40B4-BE49-F238E27FC236}">
                <a16:creationId xmlns:a16="http://schemas.microsoft.com/office/drawing/2014/main" id="{9D9B4969-D422-AB8A-1304-8FB84A19489E}"/>
              </a:ext>
            </a:extLst>
          </p:cNvPr>
          <p:cNvSpPr/>
          <p:nvPr/>
        </p:nvSpPr>
        <p:spPr>
          <a:xfrm>
            <a:off x="1796033" y="2213556"/>
            <a:ext cx="412596" cy="179713"/>
          </a:xfrm>
          <a:prstGeom prst="rect">
            <a:avLst/>
          </a:prstGeom>
          <a:noFill/>
          <a:ln w="44450">
            <a:solidFill>
              <a:srgbClr val="FF26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CE7A1FD7-CC45-E3E0-E395-2C4521EA9D3C}"/>
              </a:ext>
            </a:extLst>
          </p:cNvPr>
          <p:cNvSpPr/>
          <p:nvPr/>
        </p:nvSpPr>
        <p:spPr>
          <a:xfrm>
            <a:off x="1181670" y="1684448"/>
            <a:ext cx="1744036" cy="29446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263D8BE-2207-A5E8-6EA6-9B9C1C194251}"/>
                  </a:ext>
                </a:extLst>
              </p:cNvPr>
              <p:cNvSpPr txBox="1"/>
              <p:nvPr/>
            </p:nvSpPr>
            <p:spPr>
              <a:xfrm>
                <a:off x="1022263" y="1472453"/>
                <a:ext cx="2422651" cy="461665"/>
              </a:xfrm>
              <a:prstGeom prst="rect">
                <a:avLst/>
              </a:prstGeom>
              <a:noFill/>
            </p:spPr>
            <p:txBody>
              <a:bodyPr wrap="none" rtlCol="0">
                <a:spAutoFit/>
              </a:bodyPr>
              <a:lstStyle/>
              <a:p>
                <a14:m>
                  <m:oMath xmlns:m="http://schemas.openxmlformats.org/officeDocument/2006/math">
                    <m:sSub>
                      <m:sSubPr>
                        <m:ctrlPr>
                          <a:rPr lang="en-US" sz="2400" i="1" smtClean="0">
                            <a:latin typeface="Cambria Math" panose="02040503050406030204" pitchFamily="18" charset="0"/>
                          </a:rPr>
                        </m:ctrlPr>
                      </m:sSubPr>
                      <m:e>
                        <m:r>
                          <a:rPr lang="en-CA" sz="2400" b="0" i="1" smtClean="0">
                            <a:latin typeface="Cambria Math" panose="02040503050406030204" pitchFamily="18" charset="0"/>
                          </a:rPr>
                          <m:t>𝐸</m:t>
                        </m:r>
                      </m:e>
                      <m:sub>
                        <m:r>
                          <a:rPr lang="en-CA" sz="2400" b="0" i="1" smtClean="0">
                            <a:latin typeface="Cambria Math" panose="02040503050406030204" pitchFamily="18" charset="0"/>
                          </a:rPr>
                          <m:t>𝑥</m:t>
                        </m:r>
                      </m:sub>
                    </m:sSub>
                    <m:r>
                      <a:rPr lang="en-CA" sz="2400" b="0" i="1" smtClean="0">
                        <a:latin typeface="Cambria Math" panose="02040503050406030204" pitchFamily="18" charset="0"/>
                      </a:rPr>
                      <m:t>=3.588 </m:t>
                    </m:r>
                    <m:r>
                      <a:rPr lang="en-CA" sz="2400" b="0" i="1" smtClean="0">
                        <a:latin typeface="Cambria Math" panose="02040503050406030204" pitchFamily="18" charset="0"/>
                      </a:rPr>
                      <m:t>𝑀𝑒𝑉</m:t>
                    </m:r>
                  </m:oMath>
                </a14:m>
                <a:r>
                  <a:rPr lang="en-US" sz="2400" dirty="0"/>
                  <a:t> </a:t>
                </a:r>
              </a:p>
            </p:txBody>
          </p:sp>
        </mc:Choice>
        <mc:Fallback xmlns="">
          <p:sp>
            <p:nvSpPr>
              <p:cNvPr id="5" name="TextBox 4">
                <a:extLst>
                  <a:ext uri="{FF2B5EF4-FFF2-40B4-BE49-F238E27FC236}">
                    <a16:creationId xmlns:a16="http://schemas.microsoft.com/office/drawing/2014/main" id="{B263D8BE-2207-A5E8-6EA6-9B9C1C194251}"/>
                  </a:ext>
                </a:extLst>
              </p:cNvPr>
              <p:cNvSpPr txBox="1">
                <a:spLocks noRot="1" noChangeAspect="1" noMove="1" noResize="1" noEditPoints="1" noAdjustHandles="1" noChangeArrowheads="1" noChangeShapeType="1" noTextEdit="1"/>
              </p:cNvSpPr>
              <p:nvPr/>
            </p:nvSpPr>
            <p:spPr>
              <a:xfrm>
                <a:off x="1022263" y="1472453"/>
                <a:ext cx="2422651" cy="461665"/>
              </a:xfrm>
              <a:prstGeom prst="rect">
                <a:avLst/>
              </a:prstGeom>
              <a:blipFill>
                <a:blip r:embed="rId7"/>
                <a:stretch>
                  <a:fillRect l="-521" b="-21622"/>
                </a:stretch>
              </a:blipFill>
            </p:spPr>
            <p:txBody>
              <a:bodyPr/>
              <a:lstStyle/>
              <a:p>
                <a:r>
                  <a:rPr lang="en-US">
                    <a:noFill/>
                  </a:rPr>
                  <a:t> </a:t>
                </a:r>
              </a:p>
            </p:txBody>
          </p:sp>
        </mc:Fallback>
      </mc:AlternateContent>
      <p:sp>
        <p:nvSpPr>
          <p:cNvPr id="10" name="Rectangle 9">
            <a:extLst>
              <a:ext uri="{FF2B5EF4-FFF2-40B4-BE49-F238E27FC236}">
                <a16:creationId xmlns:a16="http://schemas.microsoft.com/office/drawing/2014/main" id="{29A11802-5DEF-F94D-7CB3-208331BAC133}"/>
              </a:ext>
            </a:extLst>
          </p:cNvPr>
          <p:cNvSpPr/>
          <p:nvPr/>
        </p:nvSpPr>
        <p:spPr>
          <a:xfrm>
            <a:off x="5301121" y="1739549"/>
            <a:ext cx="1744036" cy="29446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44D237F6-8CC1-32D3-8047-4AB70B385E3A}"/>
                  </a:ext>
                </a:extLst>
              </p:cNvPr>
              <p:cNvSpPr txBox="1"/>
              <p:nvPr/>
            </p:nvSpPr>
            <p:spPr>
              <a:xfrm>
                <a:off x="5285078" y="1472453"/>
                <a:ext cx="2422650"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CA" sz="2400" i="1">
                              <a:latin typeface="Cambria Math" panose="02040503050406030204" pitchFamily="18" charset="0"/>
                            </a:rPr>
                            <m:t>𝐸</m:t>
                          </m:r>
                        </m:e>
                        <m:sub>
                          <m:r>
                            <a:rPr lang="en-CA" sz="2400" i="1">
                              <a:latin typeface="Cambria Math" panose="02040503050406030204" pitchFamily="18" charset="0"/>
                            </a:rPr>
                            <m:t>𝑥</m:t>
                          </m:r>
                        </m:sub>
                      </m:sSub>
                      <m:r>
                        <a:rPr lang="en-CA" sz="2400" i="1">
                          <a:latin typeface="Cambria Math" panose="02040503050406030204" pitchFamily="18" charset="0"/>
                        </a:rPr>
                        <m:t>=6.625 </m:t>
                      </m:r>
                      <m:r>
                        <a:rPr lang="en-CA" sz="2400" i="1">
                          <a:latin typeface="Cambria Math" panose="02040503050406030204" pitchFamily="18" charset="0"/>
                        </a:rPr>
                        <m:t>𝑀𝑒𝑉</m:t>
                      </m:r>
                    </m:oMath>
                  </m:oMathPara>
                </a14:m>
                <a:endParaRPr lang="en-US" sz="2400" dirty="0"/>
              </a:p>
            </p:txBody>
          </p:sp>
        </mc:Choice>
        <mc:Fallback xmlns="">
          <p:sp>
            <p:nvSpPr>
              <p:cNvPr id="11" name="TextBox 10">
                <a:extLst>
                  <a:ext uri="{FF2B5EF4-FFF2-40B4-BE49-F238E27FC236}">
                    <a16:creationId xmlns:a16="http://schemas.microsoft.com/office/drawing/2014/main" id="{44D237F6-8CC1-32D3-8047-4AB70B385E3A}"/>
                  </a:ext>
                </a:extLst>
              </p:cNvPr>
              <p:cNvSpPr txBox="1">
                <a:spLocks noRot="1" noChangeAspect="1" noMove="1" noResize="1" noEditPoints="1" noAdjustHandles="1" noChangeArrowheads="1" noChangeShapeType="1" noTextEdit="1"/>
              </p:cNvSpPr>
              <p:nvPr/>
            </p:nvSpPr>
            <p:spPr>
              <a:xfrm>
                <a:off x="5285078" y="1472453"/>
                <a:ext cx="2422650" cy="461665"/>
              </a:xfrm>
              <a:prstGeom prst="rect">
                <a:avLst/>
              </a:prstGeom>
              <a:blipFill>
                <a:blip r:embed="rId8"/>
                <a:stretch>
                  <a:fillRect b="-21622"/>
                </a:stretch>
              </a:blipFill>
            </p:spPr>
            <p:txBody>
              <a:bodyPr/>
              <a:lstStyle/>
              <a:p>
                <a:r>
                  <a:rPr lang="en-US">
                    <a:noFill/>
                  </a:rPr>
                  <a:t> </a:t>
                </a:r>
              </a:p>
            </p:txBody>
          </p:sp>
        </mc:Fallback>
      </mc:AlternateContent>
      <p:sp>
        <p:nvSpPr>
          <p:cNvPr id="12" name="Rectangle 11">
            <a:extLst>
              <a:ext uri="{FF2B5EF4-FFF2-40B4-BE49-F238E27FC236}">
                <a16:creationId xmlns:a16="http://schemas.microsoft.com/office/drawing/2014/main" id="{BD2EAF9C-A4E4-EB6F-0A0F-1DAE97651C9F}"/>
              </a:ext>
            </a:extLst>
          </p:cNvPr>
          <p:cNvSpPr/>
          <p:nvPr/>
        </p:nvSpPr>
        <p:spPr>
          <a:xfrm>
            <a:off x="9234698" y="1774717"/>
            <a:ext cx="1744036" cy="29446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56CDBDC5-C0BC-C738-32D0-726807E52607}"/>
                  </a:ext>
                </a:extLst>
              </p:cNvPr>
              <p:cNvSpPr txBox="1"/>
              <p:nvPr/>
            </p:nvSpPr>
            <p:spPr>
              <a:xfrm>
                <a:off x="8933244" y="1472452"/>
                <a:ext cx="2670441"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CA" sz="2400" i="1">
                              <a:latin typeface="Cambria Math" panose="02040503050406030204" pitchFamily="18" charset="0"/>
                            </a:rPr>
                            <m:t>𝐸</m:t>
                          </m:r>
                        </m:e>
                        <m:sub>
                          <m:r>
                            <a:rPr lang="en-CA" sz="2400" i="1">
                              <a:latin typeface="Cambria Math" panose="02040503050406030204" pitchFamily="18" charset="0"/>
                            </a:rPr>
                            <m:t>𝑥</m:t>
                          </m:r>
                        </m:sub>
                      </m:sSub>
                      <m:r>
                        <a:rPr lang="en-CA" sz="2400" i="1">
                          <a:latin typeface="Cambria Math" panose="02040503050406030204" pitchFamily="18" charset="0"/>
                        </a:rPr>
                        <m:t>=</m:t>
                      </m:r>
                      <m:r>
                        <a:rPr lang="en-CA" sz="2400" b="0" i="1" smtClean="0">
                          <a:latin typeface="Cambria Math" panose="02040503050406030204" pitchFamily="18" charset="0"/>
                        </a:rPr>
                        <m:t>12.345</m:t>
                      </m:r>
                      <m:r>
                        <a:rPr lang="en-CA" sz="2400" i="1">
                          <a:latin typeface="Cambria Math" panose="02040503050406030204" pitchFamily="18" charset="0"/>
                        </a:rPr>
                        <m:t> </m:t>
                      </m:r>
                      <m:r>
                        <a:rPr lang="en-CA" sz="2400" i="1">
                          <a:latin typeface="Cambria Math" panose="02040503050406030204" pitchFamily="18" charset="0"/>
                        </a:rPr>
                        <m:t>𝑀𝑒𝑉</m:t>
                      </m:r>
                    </m:oMath>
                  </m:oMathPara>
                </a14:m>
                <a:endParaRPr lang="en-US" sz="2400" dirty="0"/>
              </a:p>
            </p:txBody>
          </p:sp>
        </mc:Choice>
        <mc:Fallback xmlns="">
          <p:sp>
            <p:nvSpPr>
              <p:cNvPr id="16" name="TextBox 15">
                <a:extLst>
                  <a:ext uri="{FF2B5EF4-FFF2-40B4-BE49-F238E27FC236}">
                    <a16:creationId xmlns:a16="http://schemas.microsoft.com/office/drawing/2014/main" id="{56CDBDC5-C0BC-C738-32D0-726807E52607}"/>
                  </a:ext>
                </a:extLst>
              </p:cNvPr>
              <p:cNvSpPr txBox="1">
                <a:spLocks noRot="1" noChangeAspect="1" noMove="1" noResize="1" noEditPoints="1" noAdjustHandles="1" noChangeArrowheads="1" noChangeShapeType="1" noTextEdit="1"/>
              </p:cNvSpPr>
              <p:nvPr/>
            </p:nvSpPr>
            <p:spPr>
              <a:xfrm>
                <a:off x="8933244" y="1472452"/>
                <a:ext cx="2670441" cy="461665"/>
              </a:xfrm>
              <a:prstGeom prst="rect">
                <a:avLst/>
              </a:prstGeom>
              <a:blipFill>
                <a:blip r:embed="rId9"/>
                <a:stretch>
                  <a:fillRect b="-21622"/>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DF0CC7A4-0954-F7F1-5E84-612739130053}"/>
              </a:ext>
            </a:extLst>
          </p:cNvPr>
          <p:cNvSpPr txBox="1"/>
          <p:nvPr/>
        </p:nvSpPr>
        <p:spPr>
          <a:xfrm>
            <a:off x="3191633" y="5640555"/>
            <a:ext cx="6618158" cy="523220"/>
          </a:xfrm>
          <a:prstGeom prst="rect">
            <a:avLst/>
          </a:prstGeom>
          <a:noFill/>
        </p:spPr>
        <p:txBody>
          <a:bodyPr wrap="none" rtlCol="0">
            <a:spAutoFit/>
          </a:bodyPr>
          <a:lstStyle/>
          <a:p>
            <a:r>
              <a:rPr lang="en-US" sz="2800" dirty="0"/>
              <a:t>This is in the spectrometer coordinate system</a:t>
            </a:r>
          </a:p>
        </p:txBody>
      </p:sp>
    </p:spTree>
    <p:extLst>
      <p:ext uri="{BB962C8B-B14F-4D97-AF65-F5344CB8AC3E}">
        <p14:creationId xmlns:p14="http://schemas.microsoft.com/office/powerpoint/2010/main" val="17074018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1EDB85-CBAC-FDD1-F749-0ABB00842AD8}"/>
            </a:ext>
          </a:extLst>
        </p:cNvPr>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F2DF0DA4-4E13-73B4-A88F-182A42065ED1}"/>
              </a:ext>
            </a:extLst>
          </p:cNvPr>
          <p:cNvCxnSpPr>
            <a:cxnSpLocks/>
          </p:cNvCxnSpPr>
          <p:nvPr/>
        </p:nvCxnSpPr>
        <p:spPr>
          <a:xfrm>
            <a:off x="93785" y="6477733"/>
            <a:ext cx="12038540" cy="0"/>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979F0B0C-C09E-9D7A-AF0F-F1363ED36294}"/>
              </a:ext>
            </a:extLst>
          </p:cNvPr>
          <p:cNvSpPr txBox="1"/>
          <p:nvPr/>
        </p:nvSpPr>
        <p:spPr>
          <a:xfrm>
            <a:off x="93785" y="6477733"/>
            <a:ext cx="5240537" cy="307777"/>
          </a:xfrm>
          <a:prstGeom prst="rect">
            <a:avLst/>
          </a:prstGeom>
          <a:noFill/>
        </p:spPr>
        <p:txBody>
          <a:bodyPr wrap="none" rtlCol="0">
            <a:spAutoFit/>
          </a:bodyPr>
          <a:lstStyle/>
          <a:p>
            <a:r>
              <a:rPr lang="en-CA" sz="1400" dirty="0">
                <a:solidFill>
                  <a:schemeClr val="bg2">
                    <a:lumMod val="50000"/>
                  </a:schemeClr>
                </a:solidFill>
              </a:rPr>
              <a:t>Winter Nuclear &amp; Particle Physics Conference, Feb 12-15, 2026</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D02F9AF3-13CA-A5A2-D483-CF33303C0EED}"/>
                  </a:ext>
                </a:extLst>
              </p:cNvPr>
              <p:cNvSpPr txBox="1"/>
              <p:nvPr/>
            </p:nvSpPr>
            <p:spPr>
              <a:xfrm>
                <a:off x="240145" y="249382"/>
                <a:ext cx="7093801" cy="461665"/>
              </a:xfrm>
              <a:prstGeom prst="rect">
                <a:avLst/>
              </a:prstGeom>
              <a:noFill/>
            </p:spPr>
            <p:txBody>
              <a:bodyPr wrap="none" rtlCol="0">
                <a:spAutoFit/>
              </a:bodyPr>
              <a:lstStyle/>
              <a:p>
                <a:r>
                  <a:rPr lang="en-US" sz="2400" b="1" dirty="0"/>
                  <a:t>Excitation Energy Reconstruction </a:t>
                </a:r>
                <a:r>
                  <a:rPr lang="en-US" b="1" dirty="0">
                    <a:solidFill>
                      <a:schemeClr val="tx1">
                        <a:lumMod val="95000"/>
                        <a:lumOff val="5000"/>
                      </a:schemeClr>
                    </a:solidFill>
                  </a:rPr>
                  <a:t>(11.32 MeV,</a:t>
                </a:r>
                <a:r>
                  <a:rPr lang="en-CA" b="1" dirty="0">
                    <a:solidFill>
                      <a:schemeClr val="tx1">
                        <a:lumMod val="95000"/>
                        <a:lumOff val="5000"/>
                      </a:schemeClr>
                    </a:solidFill>
                  </a:rPr>
                  <a:t> </a:t>
                </a:r>
                <a14:m>
                  <m:oMath xmlns:m="http://schemas.openxmlformats.org/officeDocument/2006/math">
                    <m:sSup>
                      <m:sSupPr>
                        <m:ctrlPr>
                          <a:rPr lang="en-CA" b="1" i="1">
                            <a:solidFill>
                              <a:schemeClr val="tx1">
                                <a:lumMod val="95000"/>
                                <a:lumOff val="5000"/>
                              </a:schemeClr>
                            </a:solidFill>
                            <a:latin typeface="Cambria Math" panose="02040503050406030204" pitchFamily="18" charset="0"/>
                          </a:rPr>
                        </m:ctrlPr>
                      </m:sSupPr>
                      <m:e>
                        <m:r>
                          <a:rPr lang="en-CA" b="1" i="1">
                            <a:solidFill>
                              <a:schemeClr val="tx1">
                                <a:lumMod val="95000"/>
                                <a:lumOff val="5000"/>
                              </a:schemeClr>
                            </a:solidFill>
                            <a:latin typeface="Cambria Math" panose="02040503050406030204" pitchFamily="18" charset="0"/>
                          </a:rPr>
                          <m:t>𝟏</m:t>
                        </m:r>
                      </m:e>
                      <m:sup>
                        <m:r>
                          <a:rPr lang="en-CA" b="1" i="1">
                            <a:solidFill>
                              <a:schemeClr val="tx1">
                                <a:lumMod val="95000"/>
                                <a:lumOff val="5000"/>
                              </a:schemeClr>
                            </a:solidFill>
                            <a:latin typeface="Cambria Math" panose="02040503050406030204" pitchFamily="18" charset="0"/>
                          </a:rPr>
                          <m:t>−</m:t>
                        </m:r>
                      </m:sup>
                    </m:sSup>
                  </m:oMath>
                </a14:m>
                <a:r>
                  <a:rPr lang="en-US" b="1" dirty="0">
                    <a:solidFill>
                      <a:schemeClr val="tx1">
                        <a:lumMod val="95000"/>
                        <a:lumOff val="5000"/>
                      </a:schemeClr>
                    </a:solidFill>
                  </a:rPr>
                  <a:t> )</a:t>
                </a:r>
                <a:endParaRPr lang="en-US" sz="2400" b="1" dirty="0"/>
              </a:p>
            </p:txBody>
          </p:sp>
        </mc:Choice>
        <mc:Fallback xmlns="">
          <p:sp>
            <p:nvSpPr>
              <p:cNvPr id="8" name="TextBox 7">
                <a:extLst>
                  <a:ext uri="{FF2B5EF4-FFF2-40B4-BE49-F238E27FC236}">
                    <a16:creationId xmlns:a16="http://schemas.microsoft.com/office/drawing/2014/main" id="{D02F9AF3-13CA-A5A2-D483-CF33303C0EED}"/>
                  </a:ext>
                </a:extLst>
              </p:cNvPr>
              <p:cNvSpPr txBox="1">
                <a:spLocks noRot="1" noChangeAspect="1" noMove="1" noResize="1" noEditPoints="1" noAdjustHandles="1" noChangeArrowheads="1" noChangeShapeType="1" noTextEdit="1"/>
              </p:cNvSpPr>
              <p:nvPr/>
            </p:nvSpPr>
            <p:spPr>
              <a:xfrm>
                <a:off x="240145" y="249382"/>
                <a:ext cx="7093801" cy="461665"/>
              </a:xfrm>
              <a:prstGeom prst="rect">
                <a:avLst/>
              </a:prstGeom>
              <a:blipFill>
                <a:blip r:embed="rId3"/>
                <a:stretch>
                  <a:fillRect l="-1250" t="-10526" b="-23684"/>
                </a:stretch>
              </a:blipFill>
            </p:spPr>
            <p:txBody>
              <a:bodyPr/>
              <a:lstStyle/>
              <a:p>
                <a:r>
                  <a:rPr lang="en-US">
                    <a:noFill/>
                  </a:rPr>
                  <a:t> </a:t>
                </a:r>
              </a:p>
            </p:txBody>
          </p:sp>
        </mc:Fallback>
      </mc:AlternateContent>
      <p:pic>
        <p:nvPicPr>
          <p:cNvPr id="5" name="Picture 4" descr="A graph of energy distribution&#10;&#10;AI-generated content may be incorrect.">
            <a:extLst>
              <a:ext uri="{FF2B5EF4-FFF2-40B4-BE49-F238E27FC236}">
                <a16:creationId xmlns:a16="http://schemas.microsoft.com/office/drawing/2014/main" id="{D8016C46-AF89-2992-82AC-AA9D127C3C49}"/>
              </a:ext>
            </a:extLst>
          </p:cNvPr>
          <p:cNvPicPr>
            <a:picLocks noChangeAspect="1"/>
          </p:cNvPicPr>
          <p:nvPr/>
        </p:nvPicPr>
        <p:blipFill>
          <a:blip r:embed="rId4"/>
          <a:stretch>
            <a:fillRect/>
          </a:stretch>
        </p:blipFill>
        <p:spPr>
          <a:xfrm>
            <a:off x="6172522" y="1360050"/>
            <a:ext cx="5959803" cy="4621888"/>
          </a:xfrm>
          <a:prstGeom prst="rect">
            <a:avLst/>
          </a:prstGeom>
        </p:spPr>
      </p:pic>
      <p:pic>
        <p:nvPicPr>
          <p:cNvPr id="10" name="Picture 9" descr="A graph of energy distribution&#10;&#10;AI-generated content may be incorrect.">
            <a:extLst>
              <a:ext uri="{FF2B5EF4-FFF2-40B4-BE49-F238E27FC236}">
                <a16:creationId xmlns:a16="http://schemas.microsoft.com/office/drawing/2014/main" id="{1D023D48-CA34-9CDC-7BE3-1263392EE3AB}"/>
              </a:ext>
            </a:extLst>
          </p:cNvPr>
          <p:cNvPicPr>
            <a:picLocks noChangeAspect="1"/>
          </p:cNvPicPr>
          <p:nvPr/>
        </p:nvPicPr>
        <p:blipFill>
          <a:blip r:embed="rId5"/>
          <a:stretch>
            <a:fillRect/>
          </a:stretch>
        </p:blipFill>
        <p:spPr>
          <a:xfrm>
            <a:off x="93785" y="1206842"/>
            <a:ext cx="6044878" cy="4775096"/>
          </a:xfrm>
          <a:prstGeom prst="rect">
            <a:avLst/>
          </a:prstGeom>
        </p:spPr>
      </p:pic>
      <p:sp>
        <p:nvSpPr>
          <p:cNvPr id="11" name="TextBox 10">
            <a:extLst>
              <a:ext uri="{FF2B5EF4-FFF2-40B4-BE49-F238E27FC236}">
                <a16:creationId xmlns:a16="http://schemas.microsoft.com/office/drawing/2014/main" id="{51E0978D-1E94-5CB2-E205-3B7F016D2C45}"/>
              </a:ext>
            </a:extLst>
          </p:cNvPr>
          <p:cNvSpPr txBox="1"/>
          <p:nvPr/>
        </p:nvSpPr>
        <p:spPr>
          <a:xfrm>
            <a:off x="5502349" y="711047"/>
            <a:ext cx="5119671" cy="461665"/>
          </a:xfrm>
          <a:prstGeom prst="rect">
            <a:avLst/>
          </a:prstGeom>
          <a:noFill/>
        </p:spPr>
        <p:txBody>
          <a:bodyPr wrap="none" rtlCol="0">
            <a:spAutoFit/>
          </a:bodyPr>
          <a:lstStyle/>
          <a:p>
            <a:r>
              <a:rPr lang="en-US" sz="2400" b="1" dirty="0">
                <a:solidFill>
                  <a:srgbClr val="FF0000"/>
                </a:solidFill>
              </a:rPr>
              <a:t>Here: Gaussian Smear sigma = 70keV</a:t>
            </a:r>
          </a:p>
        </p:txBody>
      </p:sp>
    </p:spTree>
    <p:extLst>
      <p:ext uri="{BB962C8B-B14F-4D97-AF65-F5344CB8AC3E}">
        <p14:creationId xmlns:p14="http://schemas.microsoft.com/office/powerpoint/2010/main" val="2410537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E101B6-C696-99F8-5C19-83D32B17A274}"/>
              </a:ext>
            </a:extLst>
          </p:cNvPr>
          <p:cNvSpPr>
            <a:spLocks noGrp="1"/>
          </p:cNvSpPr>
          <p:nvPr>
            <p:ph idx="1"/>
          </p:nvPr>
        </p:nvSpPr>
        <p:spPr/>
        <p:txBody>
          <a:bodyPr/>
          <a:lstStyle/>
          <a:p>
            <a:r>
              <a:rPr lang="en-US" dirty="0"/>
              <a:t>I have run Monte-Carlo calculations for ~10 states and Barry is going to share his result of the calculation</a:t>
            </a:r>
          </a:p>
          <a:p>
            <a:r>
              <a:rPr lang="en-US" dirty="0"/>
              <a:t>The strategy now is to fit the the sum of excitation energy distribution of each state to the distribution we see in data. This would tell us the contribution of each state. </a:t>
            </a:r>
          </a:p>
          <a:p>
            <a:r>
              <a:rPr lang="en-US" dirty="0"/>
              <a:t>We need the DWBA calculations to figure out the angular distributions of each state, my simulation is currently sampling </a:t>
            </a:r>
            <a:r>
              <a:rPr lang="en-US" dirty="0" err="1"/>
              <a:t>isotropically</a:t>
            </a:r>
            <a:r>
              <a:rPr lang="en-US" dirty="0"/>
              <a:t>. </a:t>
            </a:r>
          </a:p>
        </p:txBody>
      </p:sp>
      <p:sp>
        <p:nvSpPr>
          <p:cNvPr id="3" name="Title 2">
            <a:extLst>
              <a:ext uri="{FF2B5EF4-FFF2-40B4-BE49-F238E27FC236}">
                <a16:creationId xmlns:a16="http://schemas.microsoft.com/office/drawing/2014/main" id="{D6878A19-7038-40D7-EC9F-85B06B58E255}"/>
              </a:ext>
            </a:extLst>
          </p:cNvPr>
          <p:cNvSpPr>
            <a:spLocks noGrp="1"/>
          </p:cNvSpPr>
          <p:nvPr>
            <p:ph type="title"/>
          </p:nvPr>
        </p:nvSpPr>
        <p:spPr/>
        <p:txBody>
          <a:bodyPr/>
          <a:lstStyle/>
          <a:p>
            <a:r>
              <a:rPr lang="en-US" b="1" dirty="0"/>
              <a:t>Current Status</a:t>
            </a:r>
          </a:p>
        </p:txBody>
      </p:sp>
    </p:spTree>
    <p:extLst>
      <p:ext uri="{BB962C8B-B14F-4D97-AF65-F5344CB8AC3E}">
        <p14:creationId xmlns:p14="http://schemas.microsoft.com/office/powerpoint/2010/main" val="28561619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249</TotalTime>
  <Words>689</Words>
  <Application>Microsoft Macintosh PowerPoint</Application>
  <PresentationFormat>Widescreen</PresentationFormat>
  <Paragraphs>117</Paragraphs>
  <Slides>12</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Aptos</vt:lpstr>
      <vt:lpstr>Arial</vt:lpstr>
      <vt:lpstr>Cambria Math</vt:lpstr>
      <vt:lpstr>Cochin</vt:lpstr>
      <vt:lpstr>Garamond</vt:lpstr>
      <vt:lpstr>Wingdings</vt:lpstr>
      <vt:lpstr>Office Theme</vt:lpstr>
      <vt:lpstr>Simulations &amp; Transmission Efficiencies </vt:lpstr>
      <vt:lpstr>GEANT4 UserInput  </vt:lpstr>
      <vt:lpstr>Tracking 26Mg</vt:lpstr>
      <vt:lpstr>Tracking 3H</vt:lpstr>
      <vt:lpstr>Tracking 3H (Cont’) </vt:lpstr>
      <vt:lpstr>S3 Construction</vt:lpstr>
      <vt:lpstr>S3 Construction(cont’) </vt:lpstr>
      <vt:lpstr>S3 Hits </vt:lpstr>
      <vt:lpstr>Kinematics</vt:lpstr>
      <vt:lpstr>PowerPoint Presentation</vt:lpstr>
      <vt:lpstr>PowerPoint Presentation</vt:lpstr>
      <vt:lpstr>Current Status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Mike Qiu</dc:creator>
  <cp:lastModifiedBy>Mike Qiu</cp:lastModifiedBy>
  <cp:revision>3</cp:revision>
  <dcterms:created xsi:type="dcterms:W3CDTF">2026-02-19T18:27:42Z</dcterms:created>
  <dcterms:modified xsi:type="dcterms:W3CDTF">2026-02-20T19:19:37Z</dcterms:modified>
</cp:coreProperties>
</file>